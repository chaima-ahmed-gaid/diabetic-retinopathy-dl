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Proxima Nova"/>
      <p:regular r:id="rId42"/>
      <p:bold r:id="rId43"/>
      <p:italic r:id="rId44"/>
      <p:boldItalic r:id="rId45"/>
    </p:embeddedFont>
    <p:embeddedFont>
      <p:font typeface="Inconsolata"/>
      <p:regular r:id="rId46"/>
      <p:bold r:id="rId47"/>
    </p:embeddedFont>
    <p:embeddedFont>
      <p:font typeface="Josefin Sans Medium"/>
      <p:regular r:id="rId48"/>
      <p:bold r:id="rId49"/>
      <p:italic r:id="rId50"/>
      <p:boldItalic r:id="rId51"/>
    </p:embeddedFont>
    <p:embeddedFont>
      <p:font typeface="Montserrat"/>
      <p:regular r:id="rId52"/>
      <p:bold r:id="rId53"/>
      <p:italic r:id="rId54"/>
      <p:boldItalic r:id="rId55"/>
    </p:embeddedFont>
    <p:embeddedFont>
      <p:font typeface="Josefin Sans"/>
      <p:regular r:id="rId56"/>
      <p:bold r:id="rId57"/>
      <p:italic r:id="rId58"/>
      <p:boldItalic r:id="rId59"/>
    </p:embeddedFont>
    <p:embeddedFont>
      <p:font typeface="Josefin Sans SemiBold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mira Temmam"/>
  <p:cmAuthor clrIdx="1" id="1" initials="" lastIdx="1" name="Chaima Ahmed Gaid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562E5D-F8D0-4223-AC89-C24509DD9A65}">
  <a:tblStyle styleId="{0F562E5D-F8D0-4223-AC89-C24509DD9A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ProximaNova-regular.fntdata"/><Relationship Id="rId41" Type="http://schemas.openxmlformats.org/officeDocument/2006/relationships/slide" Target="slides/slide35.xml"/><Relationship Id="rId44" Type="http://schemas.openxmlformats.org/officeDocument/2006/relationships/font" Target="fonts/ProximaNova-italic.fntdata"/><Relationship Id="rId43" Type="http://schemas.openxmlformats.org/officeDocument/2006/relationships/font" Target="fonts/ProximaNova-bold.fntdata"/><Relationship Id="rId46" Type="http://schemas.openxmlformats.org/officeDocument/2006/relationships/font" Target="fonts/Inconsolata-regular.fntdata"/><Relationship Id="rId45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font" Target="fonts/JosefinSansMedium-regular.fntdata"/><Relationship Id="rId47" Type="http://schemas.openxmlformats.org/officeDocument/2006/relationships/font" Target="fonts/Inconsolata-bold.fntdata"/><Relationship Id="rId49" Type="http://schemas.openxmlformats.org/officeDocument/2006/relationships/font" Target="fonts/JosefinSans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JosefinSansSemiBold-italic.fntdata"/><Relationship Id="rId61" Type="http://schemas.openxmlformats.org/officeDocument/2006/relationships/font" Target="fonts/JosefinSansSemiBold-bold.fntdata"/><Relationship Id="rId20" Type="http://schemas.openxmlformats.org/officeDocument/2006/relationships/slide" Target="slides/slide14.xml"/><Relationship Id="rId63" Type="http://schemas.openxmlformats.org/officeDocument/2006/relationships/font" Target="fonts/JosefinSansSemiBold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JosefinSansSemiBold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JosefinSansMedium-boldItalic.fntdata"/><Relationship Id="rId50" Type="http://schemas.openxmlformats.org/officeDocument/2006/relationships/font" Target="fonts/JosefinSansMedium-italic.fntdata"/><Relationship Id="rId53" Type="http://schemas.openxmlformats.org/officeDocument/2006/relationships/font" Target="fonts/Montserrat-bold.fntdata"/><Relationship Id="rId52" Type="http://schemas.openxmlformats.org/officeDocument/2006/relationships/font" Target="fonts/Montserrat-regular.fntdata"/><Relationship Id="rId11" Type="http://schemas.openxmlformats.org/officeDocument/2006/relationships/slide" Target="slides/slide5.xml"/><Relationship Id="rId55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54" Type="http://schemas.openxmlformats.org/officeDocument/2006/relationships/font" Target="fonts/Montserrat-italic.fntdata"/><Relationship Id="rId13" Type="http://schemas.openxmlformats.org/officeDocument/2006/relationships/slide" Target="slides/slide7.xml"/><Relationship Id="rId57" Type="http://schemas.openxmlformats.org/officeDocument/2006/relationships/font" Target="fonts/JosefinSans-bold.fntdata"/><Relationship Id="rId12" Type="http://schemas.openxmlformats.org/officeDocument/2006/relationships/slide" Target="slides/slide6.xml"/><Relationship Id="rId56" Type="http://schemas.openxmlformats.org/officeDocument/2006/relationships/font" Target="fonts/JosefinSans-regular.fntdata"/><Relationship Id="rId15" Type="http://schemas.openxmlformats.org/officeDocument/2006/relationships/slide" Target="slides/slide9.xml"/><Relationship Id="rId59" Type="http://schemas.openxmlformats.org/officeDocument/2006/relationships/font" Target="fonts/JosefinSans-boldItalic.fntdata"/><Relationship Id="rId14" Type="http://schemas.openxmlformats.org/officeDocument/2006/relationships/slide" Target="slides/slide8.xml"/><Relationship Id="rId58" Type="http://schemas.openxmlformats.org/officeDocument/2006/relationships/font" Target="fonts/Josefi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06-23T15:10:54.586">
    <p:pos x="6000" y="0"/>
    <p:text>architectural optimization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3-06-23T12:07:22.084">
    <p:pos x="6000" y="0"/>
    <p:text>F1-score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546a3d4d4f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546a3d4d4f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895460ef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895460ef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543aa420e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543aa420e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One-third of people living with diabetes have some degree of diabetic retinopathy, and every person who has diabetes is at risk of developing it.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86b5b099ff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86b5b099ff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One-third of people living with diabetes have some degree of diabetic retinopathy, and every person who has diabetes is at risk of developing it.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543aa420e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543aa420e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546a3d4d4f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546a3d4d4f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Ophthalmologists can identify the presence of DR by examining digital retinal fundus images, but this is a time-consuming and manual-intensive process. Thus, it is important to develop an automatic method to assist DR diagnosis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543aa420e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543aa420e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Ophthalmologists can identify the presence of DR by examining digital retinal fundus images, but this is a time-consuming and manual-intensive process. Thus, it is important to develop an automatic method to assist DR diagnosis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543aa420e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543aa420e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CNNs excel at capturing intricate features and spatial relationships in images, making them well-suited for tasks like diabetic retinopathy detection.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543aa420eb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543aa420e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 (AI) is a field of computer science that aims to develop intelligent systems capable of performing tasks that typically require human intelligence.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Learning, a subset of AI, focuses on creating algorithms that enable machines to learn from data and make predictions without explicit programming.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Learning, a subfield of machine learning, employs neural networks with multiple layers to learn complex representations of data.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543aa420eb_7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543aa420eb_7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543aa420eb_7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543aa420eb_7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It leverages pre-trained models that have learned rich representations from large-scale datasets, such as ImageNet.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Transfer learning is beneficial in scenarios with limited data, as it allows models to benefit from prior knowledge and generalize better to new tasks.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546a3d4d4f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546a3d4d4f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546a3d4d4f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546a3d4d4f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3973203dd229e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3973203dd229e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e3973203dd229e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e3973203dd229e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e3973203dd229e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e3973203dd229e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546a3d4d4f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2546a3d4d4f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546a3d4d4f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2546a3d4d4f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543aa420eb_7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2543aa420eb_7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543aa420eb_2_1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2543aa420eb_2_1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546a3d4d4f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546a3d4d4f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546a3d4d4f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2546a3d4d4f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546a3d4d4f_0_1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2546a3d4d4f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546a3d4d4f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546a3d4d4f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46a3d4d4f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46a3d4d4f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546a3d4d4f_0_1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546a3d4d4f_0_1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546a3d4d4f_0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546a3d4d4f_0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2546a3d4d4f_0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2546a3d4d4f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895460ef7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895460ef7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546a3d4d4f_0_1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2546a3d4d4f_0_1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86b5b099f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86b5b099f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895460ef7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895460ef7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895460ef7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895460ef7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895460ef7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895460ef7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54803f750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54803f750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10492" y="-27116"/>
            <a:ext cx="9164993" cy="5197771"/>
            <a:chOff x="-23767" y="-3103"/>
            <a:chExt cx="9164993" cy="5197771"/>
          </a:xfrm>
        </p:grpSpPr>
        <p:sp>
          <p:nvSpPr>
            <p:cNvPr id="11" name="Google Shape;11;p2"/>
            <p:cNvSpPr/>
            <p:nvPr/>
          </p:nvSpPr>
          <p:spPr>
            <a:xfrm>
              <a:off x="6609504" y="2634631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587982" y="2639105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925026" y="1374262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925026" y="31710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5400000">
              <a:off x="5942773" y="707438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520418" y="556062"/>
              <a:ext cx="1430700" cy="14085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72476" y="2131309"/>
              <a:ext cx="2257800" cy="22227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5400000">
              <a:off x="4558623" y="3305075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5400000">
              <a:off x="1313432" y="41468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17609" y="1321257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5400000">
              <a:off x="-693767" y="3302025"/>
              <a:ext cx="2562643" cy="1222642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5546733">
              <a:off x="3918294" y="46694"/>
              <a:ext cx="2531718" cy="2538119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603938" y="31644"/>
              <a:ext cx="1216200" cy="1216200"/>
            </a:xfrm>
            <a:prstGeom prst="ellipse">
              <a:avLst/>
            </a:pr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1752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293214" y="3978331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603938" y="3978256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225354" y="1374262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93565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935651" y="2634565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603774" y="2644223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" name="Google Shape;31;p2"/>
          <p:cNvSpPr/>
          <p:nvPr/>
        </p:nvSpPr>
        <p:spPr>
          <a:xfrm>
            <a:off x="1928250" y="1176300"/>
            <a:ext cx="5287500" cy="27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928250" y="3967200"/>
            <a:ext cx="5287500" cy="2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 txBox="1"/>
          <p:nvPr>
            <p:ph type="ctrTitle"/>
          </p:nvPr>
        </p:nvSpPr>
        <p:spPr>
          <a:xfrm>
            <a:off x="1669200" y="1110475"/>
            <a:ext cx="5805600" cy="19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" name="Google Shape;34;p2"/>
          <p:cNvSpPr txBox="1"/>
          <p:nvPr>
            <p:ph idx="1" type="subTitle"/>
          </p:nvPr>
        </p:nvSpPr>
        <p:spPr>
          <a:xfrm>
            <a:off x="2833650" y="3048175"/>
            <a:ext cx="3476700" cy="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3"/>
          <p:cNvGrpSpPr/>
          <p:nvPr/>
        </p:nvGrpSpPr>
        <p:grpSpPr>
          <a:xfrm>
            <a:off x="-10492" y="-27116"/>
            <a:ext cx="9164993" cy="5197771"/>
            <a:chOff x="-23767" y="-3103"/>
            <a:chExt cx="9164993" cy="5197771"/>
          </a:xfrm>
        </p:grpSpPr>
        <p:sp>
          <p:nvSpPr>
            <p:cNvPr id="38" name="Google Shape;38;p3"/>
            <p:cNvSpPr/>
            <p:nvPr/>
          </p:nvSpPr>
          <p:spPr>
            <a:xfrm>
              <a:off x="6609504" y="2634631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587982" y="2639105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7925026" y="1374262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925026" y="31710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 rot="5400000">
              <a:off x="5942773" y="707438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4520418" y="556062"/>
              <a:ext cx="1430700" cy="14085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72476" y="2131309"/>
              <a:ext cx="2257800" cy="22227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 rot="5400000">
              <a:off x="4558623" y="3305075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 rot="5400000">
              <a:off x="1313432" y="41468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-17609" y="1321257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 rot="5400000">
              <a:off x="-693767" y="3302025"/>
              <a:ext cx="2562643" cy="1222642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 rot="5546733">
              <a:off x="3918294" y="46694"/>
              <a:ext cx="2531718" cy="2538119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2603938" y="31644"/>
              <a:ext cx="1216200" cy="1216200"/>
            </a:xfrm>
            <a:prstGeom prst="ellipse">
              <a:avLst/>
            </a:pr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-1752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293214" y="3978331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603938" y="3978256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5225354" y="1374262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393565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935651" y="2634565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603774" y="2644223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3"/>
          <p:cNvSpPr/>
          <p:nvPr/>
        </p:nvSpPr>
        <p:spPr>
          <a:xfrm>
            <a:off x="1928250" y="1176300"/>
            <a:ext cx="5287500" cy="2790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928250" y="3967200"/>
            <a:ext cx="5287500" cy="25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3271100" y="1886950"/>
            <a:ext cx="4118700" cy="9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3"/>
          <p:cNvSpPr txBox="1"/>
          <p:nvPr>
            <p:ph idx="1" type="subTitle"/>
          </p:nvPr>
        </p:nvSpPr>
        <p:spPr>
          <a:xfrm>
            <a:off x="2845050" y="2937525"/>
            <a:ext cx="3453900" cy="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3"/>
          <p:cNvSpPr txBox="1"/>
          <p:nvPr>
            <p:ph hasCustomPrompt="1" idx="2" type="title"/>
          </p:nvPr>
        </p:nvSpPr>
        <p:spPr>
          <a:xfrm>
            <a:off x="2102300" y="2011680"/>
            <a:ext cx="11688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713225" y="1219150"/>
            <a:ext cx="7699200" cy="3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713225" y="549075"/>
            <a:ext cx="76992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67" name="Google Shape;67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idx="1" type="body"/>
          </p:nvPr>
        </p:nvSpPr>
        <p:spPr>
          <a:xfrm>
            <a:off x="1438675" y="3090672"/>
            <a:ext cx="25005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5"/>
          <p:cNvSpPr txBox="1"/>
          <p:nvPr>
            <p:ph idx="2" type="body"/>
          </p:nvPr>
        </p:nvSpPr>
        <p:spPr>
          <a:xfrm>
            <a:off x="5194549" y="3090672"/>
            <a:ext cx="25005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5"/>
          <p:cNvSpPr txBox="1"/>
          <p:nvPr>
            <p:ph type="title"/>
          </p:nvPr>
        </p:nvSpPr>
        <p:spPr>
          <a:xfrm>
            <a:off x="1200200" y="548640"/>
            <a:ext cx="73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72" name="Google Shape;7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 rot="-5400000">
            <a:off x="-552659" y="-696780"/>
            <a:ext cx="2531755" cy="2538157"/>
          </a:xfrm>
          <a:custGeom>
            <a:rect b="b" l="l" r="r" t="t"/>
            <a:pathLst>
              <a:path extrusionOk="0" h="93971" w="93734">
                <a:moveTo>
                  <a:pt x="22037" y="0"/>
                </a:moveTo>
                <a:cubicBezTo>
                  <a:pt x="16417" y="142"/>
                  <a:pt x="11287" y="2352"/>
                  <a:pt x="7388" y="5888"/>
                </a:cubicBezTo>
                <a:cubicBezTo>
                  <a:pt x="7135" y="6125"/>
                  <a:pt x="6883" y="6362"/>
                  <a:pt x="6646" y="6583"/>
                </a:cubicBezTo>
                <a:cubicBezTo>
                  <a:pt x="6472" y="6772"/>
                  <a:pt x="6283" y="6946"/>
                  <a:pt x="6125" y="7120"/>
                </a:cubicBezTo>
                <a:cubicBezTo>
                  <a:pt x="2431" y="11050"/>
                  <a:pt x="158" y="16322"/>
                  <a:pt x="0" y="22100"/>
                </a:cubicBezTo>
                <a:lnTo>
                  <a:pt x="0" y="22700"/>
                </a:lnTo>
                <a:cubicBezTo>
                  <a:pt x="0" y="35217"/>
                  <a:pt x="10087" y="45383"/>
                  <a:pt x="22542" y="45383"/>
                </a:cubicBezTo>
                <a:lnTo>
                  <a:pt x="22779" y="45383"/>
                </a:lnTo>
                <a:cubicBezTo>
                  <a:pt x="23473" y="45383"/>
                  <a:pt x="24168" y="45352"/>
                  <a:pt x="24846" y="45257"/>
                </a:cubicBezTo>
                <a:cubicBezTo>
                  <a:pt x="25746" y="45162"/>
                  <a:pt x="26614" y="45036"/>
                  <a:pt x="27451" y="44831"/>
                </a:cubicBezTo>
                <a:cubicBezTo>
                  <a:pt x="28600" y="44578"/>
                  <a:pt x="29772" y="44433"/>
                  <a:pt x="30943" y="44433"/>
                </a:cubicBezTo>
                <a:cubicBezTo>
                  <a:pt x="31671" y="44433"/>
                  <a:pt x="32398" y="44489"/>
                  <a:pt x="33118" y="44610"/>
                </a:cubicBezTo>
                <a:cubicBezTo>
                  <a:pt x="35975" y="45099"/>
                  <a:pt x="38722" y="46393"/>
                  <a:pt x="41374" y="48382"/>
                </a:cubicBezTo>
                <a:cubicBezTo>
                  <a:pt x="47119" y="52723"/>
                  <a:pt x="49614" y="59890"/>
                  <a:pt x="48651" y="67088"/>
                </a:cubicBezTo>
                <a:cubicBezTo>
                  <a:pt x="48603" y="67341"/>
                  <a:pt x="48603" y="67625"/>
                  <a:pt x="48603" y="67877"/>
                </a:cubicBezTo>
                <a:cubicBezTo>
                  <a:pt x="48635" y="68051"/>
                  <a:pt x="48603" y="68256"/>
                  <a:pt x="48587" y="68430"/>
                </a:cubicBezTo>
                <a:cubicBezTo>
                  <a:pt x="48477" y="69377"/>
                  <a:pt x="48414" y="70340"/>
                  <a:pt x="48414" y="71318"/>
                </a:cubicBezTo>
                <a:cubicBezTo>
                  <a:pt x="48414" y="75438"/>
                  <a:pt x="49519" y="79306"/>
                  <a:pt x="51445" y="82636"/>
                </a:cubicBezTo>
                <a:cubicBezTo>
                  <a:pt x="54712" y="88303"/>
                  <a:pt x="60332" y="92408"/>
                  <a:pt x="67040" y="93607"/>
                </a:cubicBezTo>
                <a:lnTo>
                  <a:pt x="67072" y="93607"/>
                </a:lnTo>
                <a:cubicBezTo>
                  <a:pt x="67214" y="93623"/>
                  <a:pt x="67372" y="93670"/>
                  <a:pt x="67514" y="93686"/>
                </a:cubicBezTo>
                <a:cubicBezTo>
                  <a:pt x="67577" y="93686"/>
                  <a:pt x="67609" y="93702"/>
                  <a:pt x="67672" y="93702"/>
                </a:cubicBezTo>
                <a:cubicBezTo>
                  <a:pt x="67782" y="93734"/>
                  <a:pt x="67893" y="93749"/>
                  <a:pt x="68003" y="93749"/>
                </a:cubicBezTo>
                <a:cubicBezTo>
                  <a:pt x="68098" y="93765"/>
                  <a:pt x="68177" y="93765"/>
                  <a:pt x="68288" y="93781"/>
                </a:cubicBezTo>
                <a:cubicBezTo>
                  <a:pt x="68366" y="93812"/>
                  <a:pt x="68445" y="93812"/>
                  <a:pt x="68524" y="93812"/>
                </a:cubicBezTo>
                <a:cubicBezTo>
                  <a:pt x="68635" y="93828"/>
                  <a:pt x="68761" y="93828"/>
                  <a:pt x="68872" y="93844"/>
                </a:cubicBezTo>
                <a:cubicBezTo>
                  <a:pt x="68935" y="93844"/>
                  <a:pt x="68998" y="93860"/>
                  <a:pt x="69077" y="93860"/>
                </a:cubicBezTo>
                <a:cubicBezTo>
                  <a:pt x="69203" y="93891"/>
                  <a:pt x="69329" y="93891"/>
                  <a:pt x="69471" y="93907"/>
                </a:cubicBezTo>
                <a:cubicBezTo>
                  <a:pt x="69519" y="93907"/>
                  <a:pt x="69582" y="93907"/>
                  <a:pt x="69645" y="93923"/>
                </a:cubicBezTo>
                <a:cubicBezTo>
                  <a:pt x="69787" y="93923"/>
                  <a:pt x="69913" y="93939"/>
                  <a:pt x="70055" y="93939"/>
                </a:cubicBezTo>
                <a:lnTo>
                  <a:pt x="70229" y="93939"/>
                </a:lnTo>
                <a:cubicBezTo>
                  <a:pt x="70371" y="93939"/>
                  <a:pt x="70497" y="93939"/>
                  <a:pt x="70624" y="93970"/>
                </a:cubicBezTo>
                <a:lnTo>
                  <a:pt x="71729" y="93970"/>
                </a:lnTo>
                <a:cubicBezTo>
                  <a:pt x="71871" y="93970"/>
                  <a:pt x="72013" y="93970"/>
                  <a:pt x="72155" y="93939"/>
                </a:cubicBezTo>
                <a:lnTo>
                  <a:pt x="72281" y="93939"/>
                </a:lnTo>
                <a:cubicBezTo>
                  <a:pt x="72439" y="93939"/>
                  <a:pt x="72628" y="93923"/>
                  <a:pt x="72786" y="93907"/>
                </a:cubicBezTo>
                <a:lnTo>
                  <a:pt x="72834" y="93907"/>
                </a:lnTo>
                <a:cubicBezTo>
                  <a:pt x="84515" y="93023"/>
                  <a:pt x="93733" y="83252"/>
                  <a:pt x="93733" y="71334"/>
                </a:cubicBezTo>
                <a:lnTo>
                  <a:pt x="93733" y="71334"/>
                </a:lnTo>
                <a:cubicBezTo>
                  <a:pt x="93724" y="71353"/>
                  <a:pt x="93720" y="71360"/>
                  <a:pt x="93719" y="71360"/>
                </a:cubicBezTo>
                <a:cubicBezTo>
                  <a:pt x="93718" y="71360"/>
                  <a:pt x="93718" y="71357"/>
                  <a:pt x="93718" y="71350"/>
                </a:cubicBezTo>
                <a:cubicBezTo>
                  <a:pt x="93718" y="58848"/>
                  <a:pt x="83583" y="48698"/>
                  <a:pt x="71066" y="48698"/>
                </a:cubicBezTo>
                <a:cubicBezTo>
                  <a:pt x="69519" y="48698"/>
                  <a:pt x="68003" y="48856"/>
                  <a:pt x="66567" y="49156"/>
                </a:cubicBezTo>
                <a:cubicBezTo>
                  <a:pt x="65346" y="49398"/>
                  <a:pt x="64102" y="49540"/>
                  <a:pt x="62857" y="49540"/>
                </a:cubicBezTo>
                <a:cubicBezTo>
                  <a:pt x="62315" y="49540"/>
                  <a:pt x="61772" y="49513"/>
                  <a:pt x="61232" y="49456"/>
                </a:cubicBezTo>
                <a:cubicBezTo>
                  <a:pt x="57964" y="49093"/>
                  <a:pt x="54807" y="47909"/>
                  <a:pt x="52060" y="45841"/>
                </a:cubicBezTo>
                <a:cubicBezTo>
                  <a:pt x="46425" y="41579"/>
                  <a:pt x="43915" y="34586"/>
                  <a:pt x="44720" y="27483"/>
                </a:cubicBezTo>
                <a:cubicBezTo>
                  <a:pt x="44799" y="26741"/>
                  <a:pt x="44941" y="25983"/>
                  <a:pt x="45099" y="25225"/>
                </a:cubicBezTo>
                <a:cubicBezTo>
                  <a:pt x="45194" y="24373"/>
                  <a:pt x="45257" y="23489"/>
                  <a:pt x="45257" y="22621"/>
                </a:cubicBezTo>
                <a:cubicBezTo>
                  <a:pt x="45257" y="10119"/>
                  <a:pt x="35123" y="0"/>
                  <a:pt x="22621" y="0"/>
                </a:cubicBezTo>
                <a:close/>
              </a:path>
            </a:pathLst>
          </a:custGeom>
          <a:solidFill>
            <a:srgbClr val="ED3247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7888901" y="3991328"/>
            <a:ext cx="1216200" cy="1216200"/>
          </a:xfrm>
          <a:prstGeom prst="ellipse">
            <a:avLst/>
          </a:prstGeom>
          <a:solidFill>
            <a:srgbClr val="B8E5FA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 txBox="1"/>
          <p:nvPr>
            <p:ph type="title"/>
          </p:nvPr>
        </p:nvSpPr>
        <p:spPr>
          <a:xfrm>
            <a:off x="873450" y="549075"/>
            <a:ext cx="73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77" name="Google Shape;7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7"/>
          <p:cNvGrpSpPr/>
          <p:nvPr/>
        </p:nvGrpSpPr>
        <p:grpSpPr>
          <a:xfrm>
            <a:off x="-10492" y="7631"/>
            <a:ext cx="3843905" cy="5163024"/>
            <a:chOff x="-23767" y="31644"/>
            <a:chExt cx="3843905" cy="5163024"/>
          </a:xfrm>
        </p:grpSpPr>
        <p:sp>
          <p:nvSpPr>
            <p:cNvPr id="80" name="Google Shape;80;p7"/>
            <p:cNvSpPr/>
            <p:nvPr/>
          </p:nvSpPr>
          <p:spPr>
            <a:xfrm>
              <a:off x="-17609" y="1321257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 rot="5400000">
              <a:off x="-693767" y="3302025"/>
              <a:ext cx="2562643" cy="1222642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-1752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1293214" y="3978331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2603938" y="3978256"/>
              <a:ext cx="1216200" cy="121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" name="Google Shape;85;p7"/>
          <p:cNvSpPr txBox="1"/>
          <p:nvPr>
            <p:ph idx="1" type="body"/>
          </p:nvPr>
        </p:nvSpPr>
        <p:spPr>
          <a:xfrm>
            <a:off x="1299344" y="2615184"/>
            <a:ext cx="2691000" cy="13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r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r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r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r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r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r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r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r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7"/>
          <p:cNvSpPr txBox="1"/>
          <p:nvPr>
            <p:ph type="title"/>
          </p:nvPr>
        </p:nvSpPr>
        <p:spPr>
          <a:xfrm>
            <a:off x="1185950" y="549075"/>
            <a:ext cx="73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87" name="Google Shape;87;p7"/>
          <p:cNvSpPr txBox="1"/>
          <p:nvPr>
            <p:ph hasCustomPrompt="1" idx="2" type="title"/>
          </p:nvPr>
        </p:nvSpPr>
        <p:spPr>
          <a:xfrm>
            <a:off x="1299544" y="2040625"/>
            <a:ext cx="2691000" cy="7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8" name="Google Shape;88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8"/>
          <p:cNvGrpSpPr/>
          <p:nvPr/>
        </p:nvGrpSpPr>
        <p:grpSpPr>
          <a:xfrm flipH="1">
            <a:off x="-10492" y="-27116"/>
            <a:ext cx="9164993" cy="5197771"/>
            <a:chOff x="-23767" y="-3103"/>
            <a:chExt cx="9164993" cy="5197771"/>
          </a:xfrm>
        </p:grpSpPr>
        <p:sp>
          <p:nvSpPr>
            <p:cNvPr id="91" name="Google Shape;91;p8"/>
            <p:cNvSpPr/>
            <p:nvPr/>
          </p:nvSpPr>
          <p:spPr>
            <a:xfrm>
              <a:off x="6609504" y="2634631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587982" y="2639105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7925026" y="1374262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7925026" y="31710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 rot="5400000">
              <a:off x="5942773" y="707438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4520418" y="556062"/>
              <a:ext cx="1430700" cy="14085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772476" y="2131309"/>
              <a:ext cx="2257800" cy="22227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 rot="5400000">
              <a:off x="4558623" y="3305075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 rot="5400000">
              <a:off x="1313432" y="41468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-17609" y="1321257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 rot="5400000">
              <a:off x="-693767" y="3302025"/>
              <a:ext cx="2562643" cy="1222642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 rot="5546733">
              <a:off x="3918294" y="46694"/>
              <a:ext cx="2531718" cy="2538119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2603938" y="31644"/>
              <a:ext cx="1216200" cy="1216200"/>
            </a:xfrm>
            <a:prstGeom prst="ellipse">
              <a:avLst/>
            </a:pr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-1752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1293214" y="3978331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2603938" y="3978256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5225354" y="1374262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393565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3935651" y="2634565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2603774" y="2644223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8"/>
          <p:cNvSpPr txBox="1"/>
          <p:nvPr>
            <p:ph type="title"/>
          </p:nvPr>
        </p:nvSpPr>
        <p:spPr>
          <a:xfrm>
            <a:off x="1522050" y="1176400"/>
            <a:ext cx="6099900" cy="27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2" name="Google Shape;112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9"/>
          <p:cNvGrpSpPr/>
          <p:nvPr/>
        </p:nvGrpSpPr>
        <p:grpSpPr>
          <a:xfrm rot="10800000">
            <a:off x="-10492" y="-27116"/>
            <a:ext cx="9164993" cy="5197771"/>
            <a:chOff x="-23767" y="-3103"/>
            <a:chExt cx="9164993" cy="5197771"/>
          </a:xfrm>
        </p:grpSpPr>
        <p:sp>
          <p:nvSpPr>
            <p:cNvPr id="115" name="Google Shape;115;p9"/>
            <p:cNvSpPr/>
            <p:nvPr/>
          </p:nvSpPr>
          <p:spPr>
            <a:xfrm>
              <a:off x="6609504" y="2634631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9"/>
            <p:cNvSpPr/>
            <p:nvPr/>
          </p:nvSpPr>
          <p:spPr>
            <a:xfrm>
              <a:off x="6587982" y="2639105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9"/>
            <p:cNvSpPr/>
            <p:nvPr/>
          </p:nvSpPr>
          <p:spPr>
            <a:xfrm>
              <a:off x="7925026" y="1374262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7925026" y="31710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9"/>
            <p:cNvSpPr/>
            <p:nvPr/>
          </p:nvSpPr>
          <p:spPr>
            <a:xfrm rot="5400000">
              <a:off x="5942773" y="707438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4520418" y="556062"/>
              <a:ext cx="1430700" cy="14085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>
              <a:off x="772476" y="2131309"/>
              <a:ext cx="2257800" cy="22227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9"/>
            <p:cNvSpPr/>
            <p:nvPr/>
          </p:nvSpPr>
          <p:spPr>
            <a:xfrm rot="5400000">
              <a:off x="4558623" y="3305075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 rot="5400000">
              <a:off x="1313432" y="41468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-17609" y="1321257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 rot="5400000">
              <a:off x="-693767" y="3302025"/>
              <a:ext cx="2562643" cy="1222642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9"/>
            <p:cNvSpPr/>
            <p:nvPr/>
          </p:nvSpPr>
          <p:spPr>
            <a:xfrm rot="5546733">
              <a:off x="3918294" y="46694"/>
              <a:ext cx="2531718" cy="2538119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2603938" y="31644"/>
              <a:ext cx="1216200" cy="1216200"/>
            </a:xfrm>
            <a:prstGeom prst="ellipse">
              <a:avLst/>
            </a:pr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-1752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1293214" y="3978331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>
              <a:off x="2603938" y="3978256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9"/>
            <p:cNvSpPr/>
            <p:nvPr/>
          </p:nvSpPr>
          <p:spPr>
            <a:xfrm>
              <a:off x="5225354" y="1374262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393565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3935651" y="2634565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2603774" y="2644223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p9"/>
          <p:cNvSpPr/>
          <p:nvPr/>
        </p:nvSpPr>
        <p:spPr>
          <a:xfrm>
            <a:off x="1928250" y="1176300"/>
            <a:ext cx="5287500" cy="2790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1928250" y="3967200"/>
            <a:ext cx="5287500" cy="25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 txBox="1"/>
          <p:nvPr>
            <p:ph type="title"/>
          </p:nvPr>
        </p:nvSpPr>
        <p:spPr>
          <a:xfrm>
            <a:off x="3271100" y="1886950"/>
            <a:ext cx="4118700" cy="9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8" name="Google Shape;138;p9"/>
          <p:cNvSpPr txBox="1"/>
          <p:nvPr>
            <p:ph idx="1" type="subTitle"/>
          </p:nvPr>
        </p:nvSpPr>
        <p:spPr>
          <a:xfrm>
            <a:off x="2845050" y="2937525"/>
            <a:ext cx="3453900" cy="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9" name="Google Shape;139;p9"/>
          <p:cNvSpPr txBox="1"/>
          <p:nvPr>
            <p:ph hasCustomPrompt="1" idx="2" type="title"/>
          </p:nvPr>
        </p:nvSpPr>
        <p:spPr>
          <a:xfrm>
            <a:off x="2102300" y="2011680"/>
            <a:ext cx="11688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0" name="Google Shape;14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713225" y="3994325"/>
            <a:ext cx="24633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</a:lstStyle>
          <a:p/>
        </p:txBody>
      </p:sp>
      <p:sp>
        <p:nvSpPr>
          <p:cNvPr id="143" name="Google Shape;143;p10"/>
          <p:cNvSpPr/>
          <p:nvPr/>
        </p:nvSpPr>
        <p:spPr>
          <a:xfrm rot="-5400000">
            <a:off x="-552659" y="-696780"/>
            <a:ext cx="2531755" cy="2538157"/>
          </a:xfrm>
          <a:custGeom>
            <a:rect b="b" l="l" r="r" t="t"/>
            <a:pathLst>
              <a:path extrusionOk="0" h="93971" w="93734">
                <a:moveTo>
                  <a:pt x="22037" y="0"/>
                </a:moveTo>
                <a:cubicBezTo>
                  <a:pt x="16417" y="142"/>
                  <a:pt x="11287" y="2352"/>
                  <a:pt x="7388" y="5888"/>
                </a:cubicBezTo>
                <a:cubicBezTo>
                  <a:pt x="7135" y="6125"/>
                  <a:pt x="6883" y="6362"/>
                  <a:pt x="6646" y="6583"/>
                </a:cubicBezTo>
                <a:cubicBezTo>
                  <a:pt x="6472" y="6772"/>
                  <a:pt x="6283" y="6946"/>
                  <a:pt x="6125" y="7120"/>
                </a:cubicBezTo>
                <a:cubicBezTo>
                  <a:pt x="2431" y="11050"/>
                  <a:pt x="158" y="16322"/>
                  <a:pt x="0" y="22100"/>
                </a:cubicBezTo>
                <a:lnTo>
                  <a:pt x="0" y="22700"/>
                </a:lnTo>
                <a:cubicBezTo>
                  <a:pt x="0" y="35217"/>
                  <a:pt x="10087" y="45383"/>
                  <a:pt x="22542" y="45383"/>
                </a:cubicBezTo>
                <a:lnTo>
                  <a:pt x="22779" y="45383"/>
                </a:lnTo>
                <a:cubicBezTo>
                  <a:pt x="23473" y="45383"/>
                  <a:pt x="24168" y="45352"/>
                  <a:pt x="24846" y="45257"/>
                </a:cubicBezTo>
                <a:cubicBezTo>
                  <a:pt x="25746" y="45162"/>
                  <a:pt x="26614" y="45036"/>
                  <a:pt x="27451" y="44831"/>
                </a:cubicBezTo>
                <a:cubicBezTo>
                  <a:pt x="28600" y="44578"/>
                  <a:pt x="29772" y="44433"/>
                  <a:pt x="30943" y="44433"/>
                </a:cubicBezTo>
                <a:cubicBezTo>
                  <a:pt x="31671" y="44433"/>
                  <a:pt x="32398" y="44489"/>
                  <a:pt x="33118" y="44610"/>
                </a:cubicBezTo>
                <a:cubicBezTo>
                  <a:pt x="35975" y="45099"/>
                  <a:pt x="38722" y="46393"/>
                  <a:pt x="41374" y="48382"/>
                </a:cubicBezTo>
                <a:cubicBezTo>
                  <a:pt x="47119" y="52723"/>
                  <a:pt x="49614" y="59890"/>
                  <a:pt x="48651" y="67088"/>
                </a:cubicBezTo>
                <a:cubicBezTo>
                  <a:pt x="48603" y="67341"/>
                  <a:pt x="48603" y="67625"/>
                  <a:pt x="48603" y="67877"/>
                </a:cubicBezTo>
                <a:cubicBezTo>
                  <a:pt x="48635" y="68051"/>
                  <a:pt x="48603" y="68256"/>
                  <a:pt x="48587" y="68430"/>
                </a:cubicBezTo>
                <a:cubicBezTo>
                  <a:pt x="48477" y="69377"/>
                  <a:pt x="48414" y="70340"/>
                  <a:pt x="48414" y="71318"/>
                </a:cubicBezTo>
                <a:cubicBezTo>
                  <a:pt x="48414" y="75438"/>
                  <a:pt x="49519" y="79306"/>
                  <a:pt x="51445" y="82636"/>
                </a:cubicBezTo>
                <a:cubicBezTo>
                  <a:pt x="54712" y="88303"/>
                  <a:pt x="60332" y="92408"/>
                  <a:pt x="67040" y="93607"/>
                </a:cubicBezTo>
                <a:lnTo>
                  <a:pt x="67072" y="93607"/>
                </a:lnTo>
                <a:cubicBezTo>
                  <a:pt x="67214" y="93623"/>
                  <a:pt x="67372" y="93670"/>
                  <a:pt x="67514" y="93686"/>
                </a:cubicBezTo>
                <a:cubicBezTo>
                  <a:pt x="67577" y="93686"/>
                  <a:pt x="67609" y="93702"/>
                  <a:pt x="67672" y="93702"/>
                </a:cubicBezTo>
                <a:cubicBezTo>
                  <a:pt x="67782" y="93734"/>
                  <a:pt x="67893" y="93749"/>
                  <a:pt x="68003" y="93749"/>
                </a:cubicBezTo>
                <a:cubicBezTo>
                  <a:pt x="68098" y="93765"/>
                  <a:pt x="68177" y="93765"/>
                  <a:pt x="68288" y="93781"/>
                </a:cubicBezTo>
                <a:cubicBezTo>
                  <a:pt x="68366" y="93812"/>
                  <a:pt x="68445" y="93812"/>
                  <a:pt x="68524" y="93812"/>
                </a:cubicBezTo>
                <a:cubicBezTo>
                  <a:pt x="68635" y="93828"/>
                  <a:pt x="68761" y="93828"/>
                  <a:pt x="68872" y="93844"/>
                </a:cubicBezTo>
                <a:cubicBezTo>
                  <a:pt x="68935" y="93844"/>
                  <a:pt x="68998" y="93860"/>
                  <a:pt x="69077" y="93860"/>
                </a:cubicBezTo>
                <a:cubicBezTo>
                  <a:pt x="69203" y="93891"/>
                  <a:pt x="69329" y="93891"/>
                  <a:pt x="69471" y="93907"/>
                </a:cubicBezTo>
                <a:cubicBezTo>
                  <a:pt x="69519" y="93907"/>
                  <a:pt x="69582" y="93907"/>
                  <a:pt x="69645" y="93923"/>
                </a:cubicBezTo>
                <a:cubicBezTo>
                  <a:pt x="69787" y="93923"/>
                  <a:pt x="69913" y="93939"/>
                  <a:pt x="70055" y="93939"/>
                </a:cubicBezTo>
                <a:lnTo>
                  <a:pt x="70229" y="93939"/>
                </a:lnTo>
                <a:cubicBezTo>
                  <a:pt x="70371" y="93939"/>
                  <a:pt x="70497" y="93939"/>
                  <a:pt x="70624" y="93970"/>
                </a:cubicBezTo>
                <a:lnTo>
                  <a:pt x="71729" y="93970"/>
                </a:lnTo>
                <a:cubicBezTo>
                  <a:pt x="71871" y="93970"/>
                  <a:pt x="72013" y="93970"/>
                  <a:pt x="72155" y="93939"/>
                </a:cubicBezTo>
                <a:lnTo>
                  <a:pt x="72281" y="93939"/>
                </a:lnTo>
                <a:cubicBezTo>
                  <a:pt x="72439" y="93939"/>
                  <a:pt x="72628" y="93923"/>
                  <a:pt x="72786" y="93907"/>
                </a:cubicBezTo>
                <a:lnTo>
                  <a:pt x="72834" y="93907"/>
                </a:lnTo>
                <a:cubicBezTo>
                  <a:pt x="84515" y="93023"/>
                  <a:pt x="93733" y="83252"/>
                  <a:pt x="93733" y="71334"/>
                </a:cubicBezTo>
                <a:lnTo>
                  <a:pt x="93733" y="71334"/>
                </a:lnTo>
                <a:cubicBezTo>
                  <a:pt x="93724" y="71353"/>
                  <a:pt x="93720" y="71360"/>
                  <a:pt x="93719" y="71360"/>
                </a:cubicBezTo>
                <a:cubicBezTo>
                  <a:pt x="93718" y="71360"/>
                  <a:pt x="93718" y="71357"/>
                  <a:pt x="93718" y="71350"/>
                </a:cubicBezTo>
                <a:cubicBezTo>
                  <a:pt x="93718" y="58848"/>
                  <a:pt x="83583" y="48698"/>
                  <a:pt x="71066" y="48698"/>
                </a:cubicBezTo>
                <a:cubicBezTo>
                  <a:pt x="69519" y="48698"/>
                  <a:pt x="68003" y="48856"/>
                  <a:pt x="66567" y="49156"/>
                </a:cubicBezTo>
                <a:cubicBezTo>
                  <a:pt x="65346" y="49398"/>
                  <a:pt x="64102" y="49540"/>
                  <a:pt x="62857" y="49540"/>
                </a:cubicBezTo>
                <a:cubicBezTo>
                  <a:pt x="62315" y="49540"/>
                  <a:pt x="61772" y="49513"/>
                  <a:pt x="61232" y="49456"/>
                </a:cubicBezTo>
                <a:cubicBezTo>
                  <a:pt x="57964" y="49093"/>
                  <a:pt x="54807" y="47909"/>
                  <a:pt x="52060" y="45841"/>
                </a:cubicBezTo>
                <a:cubicBezTo>
                  <a:pt x="46425" y="41579"/>
                  <a:pt x="43915" y="34586"/>
                  <a:pt x="44720" y="27483"/>
                </a:cubicBezTo>
                <a:cubicBezTo>
                  <a:pt x="44799" y="26741"/>
                  <a:pt x="44941" y="25983"/>
                  <a:pt x="45099" y="25225"/>
                </a:cubicBezTo>
                <a:cubicBezTo>
                  <a:pt x="45194" y="24373"/>
                  <a:pt x="45257" y="23489"/>
                  <a:pt x="45257" y="22621"/>
                </a:cubicBezTo>
                <a:cubicBezTo>
                  <a:pt x="45257" y="10119"/>
                  <a:pt x="35123" y="0"/>
                  <a:pt x="22621" y="0"/>
                </a:cubicBezTo>
                <a:close/>
              </a:path>
            </a:pathLst>
          </a:custGeom>
          <a:solidFill>
            <a:srgbClr val="B8E5FA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7888901" y="3991328"/>
            <a:ext cx="1216200" cy="1216200"/>
          </a:xfrm>
          <a:prstGeom prst="ellipse">
            <a:avLst/>
          </a:prstGeom>
          <a:solidFill>
            <a:srgbClr val="BDE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hasCustomPrompt="1" type="title"/>
          </p:nvPr>
        </p:nvSpPr>
        <p:spPr>
          <a:xfrm>
            <a:off x="713225" y="1106125"/>
            <a:ext cx="7717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713225" y="3152225"/>
            <a:ext cx="77175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9" name="Google Shape;149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>
            <p:ph idx="1" type="subTitle"/>
          </p:nvPr>
        </p:nvSpPr>
        <p:spPr>
          <a:xfrm>
            <a:off x="765773" y="2657100"/>
            <a:ext cx="1728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54" name="Google Shape;154;p13"/>
          <p:cNvSpPr txBox="1"/>
          <p:nvPr>
            <p:ph idx="2" type="body"/>
          </p:nvPr>
        </p:nvSpPr>
        <p:spPr>
          <a:xfrm>
            <a:off x="765773" y="3439768"/>
            <a:ext cx="17283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5" name="Google Shape;155;p13"/>
          <p:cNvSpPr txBox="1"/>
          <p:nvPr>
            <p:ph idx="3" type="subTitle"/>
          </p:nvPr>
        </p:nvSpPr>
        <p:spPr>
          <a:xfrm>
            <a:off x="2727175" y="2657100"/>
            <a:ext cx="1728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56" name="Google Shape;156;p13"/>
          <p:cNvSpPr txBox="1"/>
          <p:nvPr>
            <p:ph idx="4" type="body"/>
          </p:nvPr>
        </p:nvSpPr>
        <p:spPr>
          <a:xfrm>
            <a:off x="2727182" y="3439768"/>
            <a:ext cx="17283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7" name="Google Shape;157;p13"/>
          <p:cNvSpPr txBox="1"/>
          <p:nvPr>
            <p:ph idx="5" type="subTitle"/>
          </p:nvPr>
        </p:nvSpPr>
        <p:spPr>
          <a:xfrm>
            <a:off x="4688463" y="2657100"/>
            <a:ext cx="1728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58" name="Google Shape;158;p13"/>
          <p:cNvSpPr txBox="1"/>
          <p:nvPr>
            <p:ph idx="6" type="body"/>
          </p:nvPr>
        </p:nvSpPr>
        <p:spPr>
          <a:xfrm>
            <a:off x="4688463" y="3439768"/>
            <a:ext cx="17283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" name="Google Shape;159;p13"/>
          <p:cNvSpPr txBox="1"/>
          <p:nvPr>
            <p:ph idx="7" type="subTitle"/>
          </p:nvPr>
        </p:nvSpPr>
        <p:spPr>
          <a:xfrm>
            <a:off x="6649774" y="2657100"/>
            <a:ext cx="1728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60" name="Google Shape;160;p13"/>
          <p:cNvSpPr txBox="1"/>
          <p:nvPr>
            <p:ph idx="8" type="body"/>
          </p:nvPr>
        </p:nvSpPr>
        <p:spPr>
          <a:xfrm>
            <a:off x="6649774" y="3439768"/>
            <a:ext cx="17283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1" name="Google Shape;161;p13"/>
          <p:cNvSpPr txBox="1"/>
          <p:nvPr>
            <p:ph hasCustomPrompt="1" type="title"/>
          </p:nvPr>
        </p:nvSpPr>
        <p:spPr>
          <a:xfrm>
            <a:off x="765773" y="1664425"/>
            <a:ext cx="1728300" cy="7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/>
          <p:nvPr>
            <p:ph hasCustomPrompt="1" idx="9" type="title"/>
          </p:nvPr>
        </p:nvSpPr>
        <p:spPr>
          <a:xfrm>
            <a:off x="2727175" y="1664425"/>
            <a:ext cx="1728300" cy="7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63" name="Google Shape;163;p13"/>
          <p:cNvSpPr txBox="1"/>
          <p:nvPr>
            <p:ph hasCustomPrompt="1" idx="13" type="title"/>
          </p:nvPr>
        </p:nvSpPr>
        <p:spPr>
          <a:xfrm>
            <a:off x="4688463" y="1664425"/>
            <a:ext cx="1728300" cy="7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64" name="Google Shape;164;p13"/>
          <p:cNvSpPr txBox="1"/>
          <p:nvPr>
            <p:ph hasCustomPrompt="1" idx="14" type="title"/>
          </p:nvPr>
        </p:nvSpPr>
        <p:spPr>
          <a:xfrm>
            <a:off x="6649774" y="1664425"/>
            <a:ext cx="1728300" cy="7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/>
          <p:nvPr>
            <p:ph idx="15" type="title"/>
          </p:nvPr>
        </p:nvSpPr>
        <p:spPr>
          <a:xfrm>
            <a:off x="1200200" y="548650"/>
            <a:ext cx="6743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166" name="Google Shape;16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CUSTOM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5076481" y="1494300"/>
            <a:ext cx="27402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5076475" y="2139020"/>
            <a:ext cx="2740200" cy="15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0" name="Google Shape;17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2091025" y="1824750"/>
            <a:ext cx="49620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2091025" y="2472022"/>
            <a:ext cx="4962000" cy="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4" name="Google Shape;174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4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type="title"/>
          </p:nvPr>
        </p:nvSpPr>
        <p:spPr>
          <a:xfrm>
            <a:off x="795001" y="2748594"/>
            <a:ext cx="34056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7" name="Google Shape;177;p16"/>
          <p:cNvSpPr txBox="1"/>
          <p:nvPr>
            <p:ph idx="1" type="body"/>
          </p:nvPr>
        </p:nvSpPr>
        <p:spPr>
          <a:xfrm>
            <a:off x="795001" y="1929384"/>
            <a:ext cx="3405600" cy="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8" name="Google Shape;17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with numbers">
  <p:cSld name="CUSTOM_5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idx="1" type="body"/>
          </p:nvPr>
        </p:nvSpPr>
        <p:spPr>
          <a:xfrm>
            <a:off x="998050" y="3447338"/>
            <a:ext cx="1963200" cy="8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body"/>
          </p:nvPr>
        </p:nvSpPr>
        <p:spPr>
          <a:xfrm>
            <a:off x="3586638" y="3447288"/>
            <a:ext cx="1963200" cy="8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body"/>
          </p:nvPr>
        </p:nvSpPr>
        <p:spPr>
          <a:xfrm>
            <a:off x="6175200" y="3447288"/>
            <a:ext cx="1963200" cy="8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" name="Google Shape;183;p17"/>
          <p:cNvSpPr txBox="1"/>
          <p:nvPr>
            <p:ph hasCustomPrompt="1" type="title"/>
          </p:nvPr>
        </p:nvSpPr>
        <p:spPr>
          <a:xfrm>
            <a:off x="998050" y="3025050"/>
            <a:ext cx="1963200" cy="46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4" name="Google Shape;184;p17"/>
          <p:cNvSpPr txBox="1"/>
          <p:nvPr>
            <p:ph hasCustomPrompt="1" idx="4" type="title"/>
          </p:nvPr>
        </p:nvSpPr>
        <p:spPr>
          <a:xfrm>
            <a:off x="3586621" y="3025050"/>
            <a:ext cx="1963200" cy="46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5" name="Google Shape;185;p17"/>
          <p:cNvSpPr txBox="1"/>
          <p:nvPr>
            <p:ph hasCustomPrompt="1" idx="5" type="title"/>
          </p:nvPr>
        </p:nvSpPr>
        <p:spPr>
          <a:xfrm>
            <a:off x="6175208" y="3025050"/>
            <a:ext cx="1963200" cy="46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17"/>
          <p:cNvSpPr txBox="1"/>
          <p:nvPr>
            <p:ph idx="6" type="title"/>
          </p:nvPr>
        </p:nvSpPr>
        <p:spPr>
          <a:xfrm>
            <a:off x="873450" y="549075"/>
            <a:ext cx="73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187" name="Google Shape;187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CUSTOM_6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idx="1" type="body"/>
          </p:nvPr>
        </p:nvSpPr>
        <p:spPr>
          <a:xfrm>
            <a:off x="1200200" y="1188710"/>
            <a:ext cx="4890900" cy="8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0" name="Google Shape;190;p18"/>
          <p:cNvSpPr txBox="1"/>
          <p:nvPr>
            <p:ph type="title"/>
          </p:nvPr>
        </p:nvSpPr>
        <p:spPr>
          <a:xfrm>
            <a:off x="1200200" y="548640"/>
            <a:ext cx="6743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191" name="Google Shape;19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8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965850" y="548640"/>
            <a:ext cx="72123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194" name="Google Shape;19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9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idx="1" type="body"/>
          </p:nvPr>
        </p:nvSpPr>
        <p:spPr>
          <a:xfrm>
            <a:off x="5076467" y="1607720"/>
            <a:ext cx="2858700" cy="21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7" name="Google Shape;197;p20"/>
          <p:cNvSpPr txBox="1"/>
          <p:nvPr>
            <p:ph type="title"/>
          </p:nvPr>
        </p:nvSpPr>
        <p:spPr>
          <a:xfrm>
            <a:off x="5076467" y="1200302"/>
            <a:ext cx="2858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198" name="Google Shape;19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type="title"/>
          </p:nvPr>
        </p:nvSpPr>
        <p:spPr>
          <a:xfrm>
            <a:off x="4719000" y="549075"/>
            <a:ext cx="38643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201" name="Google Shape;20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idx="1" type="subTitle"/>
          </p:nvPr>
        </p:nvSpPr>
        <p:spPr>
          <a:xfrm>
            <a:off x="2209459" y="1495212"/>
            <a:ext cx="23394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04" name="Google Shape;204;p22"/>
          <p:cNvSpPr txBox="1"/>
          <p:nvPr>
            <p:ph idx="2" type="body"/>
          </p:nvPr>
        </p:nvSpPr>
        <p:spPr>
          <a:xfrm>
            <a:off x="2209459" y="1965514"/>
            <a:ext cx="23394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idx="3" type="subTitle"/>
          </p:nvPr>
        </p:nvSpPr>
        <p:spPr>
          <a:xfrm>
            <a:off x="2209459" y="3281555"/>
            <a:ext cx="23394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Inconsolata"/>
              <a:buNone/>
              <a:defRPr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06" name="Google Shape;206;p22"/>
          <p:cNvSpPr txBox="1"/>
          <p:nvPr>
            <p:ph idx="4" type="body"/>
          </p:nvPr>
        </p:nvSpPr>
        <p:spPr>
          <a:xfrm>
            <a:off x="2209459" y="3753798"/>
            <a:ext cx="23394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7" name="Google Shape;207;p22"/>
          <p:cNvSpPr txBox="1"/>
          <p:nvPr>
            <p:ph idx="5" type="subTitle"/>
          </p:nvPr>
        </p:nvSpPr>
        <p:spPr>
          <a:xfrm>
            <a:off x="5932862" y="1496612"/>
            <a:ext cx="23394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08" name="Google Shape;208;p22"/>
          <p:cNvSpPr txBox="1"/>
          <p:nvPr>
            <p:ph idx="6" type="body"/>
          </p:nvPr>
        </p:nvSpPr>
        <p:spPr>
          <a:xfrm>
            <a:off x="5932862" y="1965514"/>
            <a:ext cx="23394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9" name="Google Shape;209;p22"/>
          <p:cNvSpPr txBox="1"/>
          <p:nvPr>
            <p:ph idx="7" type="subTitle"/>
          </p:nvPr>
        </p:nvSpPr>
        <p:spPr>
          <a:xfrm>
            <a:off x="5979062" y="3281555"/>
            <a:ext cx="22932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idx="8" type="body"/>
          </p:nvPr>
        </p:nvSpPr>
        <p:spPr>
          <a:xfrm>
            <a:off x="5979062" y="3753798"/>
            <a:ext cx="2293200" cy="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1" name="Google Shape;211;p22"/>
          <p:cNvSpPr txBox="1"/>
          <p:nvPr>
            <p:ph type="title"/>
          </p:nvPr>
        </p:nvSpPr>
        <p:spPr>
          <a:xfrm>
            <a:off x="1200125" y="549075"/>
            <a:ext cx="72123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212" name="Google Shape;212;p22"/>
          <p:cNvSpPr txBox="1"/>
          <p:nvPr>
            <p:ph hasCustomPrompt="1" idx="9" type="title"/>
          </p:nvPr>
        </p:nvSpPr>
        <p:spPr>
          <a:xfrm>
            <a:off x="1139016" y="1862245"/>
            <a:ext cx="970500" cy="3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13" name="Google Shape;213;p22"/>
          <p:cNvSpPr txBox="1"/>
          <p:nvPr>
            <p:ph hasCustomPrompt="1" idx="13" type="title"/>
          </p:nvPr>
        </p:nvSpPr>
        <p:spPr>
          <a:xfrm>
            <a:off x="4894169" y="1862245"/>
            <a:ext cx="970500" cy="3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14" name="Google Shape;214;p22"/>
          <p:cNvSpPr txBox="1"/>
          <p:nvPr>
            <p:ph hasCustomPrompt="1" idx="14" type="title"/>
          </p:nvPr>
        </p:nvSpPr>
        <p:spPr>
          <a:xfrm>
            <a:off x="1139016" y="3644345"/>
            <a:ext cx="970500" cy="3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15" name="Google Shape;215;p22"/>
          <p:cNvSpPr txBox="1"/>
          <p:nvPr>
            <p:ph hasCustomPrompt="1" idx="15" type="title"/>
          </p:nvPr>
        </p:nvSpPr>
        <p:spPr>
          <a:xfrm>
            <a:off x="4894169" y="3644341"/>
            <a:ext cx="970500" cy="3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216" name="Google Shape;216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4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928625" y="2800350"/>
            <a:ext cx="17706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2" type="body"/>
          </p:nvPr>
        </p:nvSpPr>
        <p:spPr>
          <a:xfrm>
            <a:off x="928700" y="3283733"/>
            <a:ext cx="1770600" cy="8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23"/>
          <p:cNvSpPr txBox="1"/>
          <p:nvPr>
            <p:ph idx="3" type="subTitle"/>
          </p:nvPr>
        </p:nvSpPr>
        <p:spPr>
          <a:xfrm>
            <a:off x="3686700" y="2800350"/>
            <a:ext cx="17706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86705" y="3283733"/>
            <a:ext cx="1770600" cy="8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2" name="Google Shape;222;p23"/>
          <p:cNvSpPr txBox="1"/>
          <p:nvPr>
            <p:ph idx="5" type="subTitle"/>
          </p:nvPr>
        </p:nvSpPr>
        <p:spPr>
          <a:xfrm>
            <a:off x="6444763" y="2800350"/>
            <a:ext cx="17706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23" name="Google Shape;223;p23"/>
          <p:cNvSpPr txBox="1"/>
          <p:nvPr>
            <p:ph idx="6" type="body"/>
          </p:nvPr>
        </p:nvSpPr>
        <p:spPr>
          <a:xfrm>
            <a:off x="6444772" y="3283733"/>
            <a:ext cx="1770600" cy="8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23"/>
          <p:cNvSpPr txBox="1"/>
          <p:nvPr>
            <p:ph type="title"/>
          </p:nvPr>
        </p:nvSpPr>
        <p:spPr>
          <a:xfrm>
            <a:off x="873450" y="549075"/>
            <a:ext cx="73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225" name="Google Shape;225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5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>
            <p:ph idx="1" type="subTitle"/>
          </p:nvPr>
        </p:nvSpPr>
        <p:spPr>
          <a:xfrm>
            <a:off x="713340" y="1898329"/>
            <a:ext cx="2451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2" type="body"/>
          </p:nvPr>
        </p:nvSpPr>
        <p:spPr>
          <a:xfrm>
            <a:off x="713340" y="2385782"/>
            <a:ext cx="2451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9" name="Google Shape;229;p24"/>
          <p:cNvSpPr txBox="1"/>
          <p:nvPr>
            <p:ph idx="3" type="subTitle"/>
          </p:nvPr>
        </p:nvSpPr>
        <p:spPr>
          <a:xfrm>
            <a:off x="3340038" y="1898329"/>
            <a:ext cx="2451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4" type="body"/>
          </p:nvPr>
        </p:nvSpPr>
        <p:spPr>
          <a:xfrm>
            <a:off x="3340038" y="2385782"/>
            <a:ext cx="2451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1" name="Google Shape;231;p24"/>
          <p:cNvSpPr txBox="1"/>
          <p:nvPr>
            <p:ph idx="5" type="subTitle"/>
          </p:nvPr>
        </p:nvSpPr>
        <p:spPr>
          <a:xfrm>
            <a:off x="5979391" y="1898329"/>
            <a:ext cx="2451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6" type="body"/>
          </p:nvPr>
        </p:nvSpPr>
        <p:spPr>
          <a:xfrm>
            <a:off x="5979391" y="2385782"/>
            <a:ext cx="2451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3" name="Google Shape;233;p24"/>
          <p:cNvSpPr txBox="1"/>
          <p:nvPr>
            <p:ph idx="7" type="subTitle"/>
          </p:nvPr>
        </p:nvSpPr>
        <p:spPr>
          <a:xfrm>
            <a:off x="713340" y="3638904"/>
            <a:ext cx="2451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8" type="body"/>
          </p:nvPr>
        </p:nvSpPr>
        <p:spPr>
          <a:xfrm>
            <a:off x="713350" y="4123128"/>
            <a:ext cx="2451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5" name="Google Shape;235;p24"/>
          <p:cNvSpPr txBox="1"/>
          <p:nvPr>
            <p:ph idx="9" type="subTitle"/>
          </p:nvPr>
        </p:nvSpPr>
        <p:spPr>
          <a:xfrm>
            <a:off x="3340038" y="3638904"/>
            <a:ext cx="2451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13" type="body"/>
          </p:nvPr>
        </p:nvSpPr>
        <p:spPr>
          <a:xfrm>
            <a:off x="3340048" y="4123128"/>
            <a:ext cx="2451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14" type="subTitle"/>
          </p:nvPr>
        </p:nvSpPr>
        <p:spPr>
          <a:xfrm>
            <a:off x="5979391" y="3638904"/>
            <a:ext cx="2451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38" name="Google Shape;238;p24"/>
          <p:cNvSpPr txBox="1"/>
          <p:nvPr>
            <p:ph idx="15" type="body"/>
          </p:nvPr>
        </p:nvSpPr>
        <p:spPr>
          <a:xfrm>
            <a:off x="5979400" y="4123128"/>
            <a:ext cx="2451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873450" y="549075"/>
            <a:ext cx="73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240" name="Google Shape;24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6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634802" y="1344425"/>
            <a:ext cx="19491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body"/>
          </p:nvPr>
        </p:nvSpPr>
        <p:spPr>
          <a:xfrm>
            <a:off x="3634793" y="1823927"/>
            <a:ext cx="19491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5985080" y="1344425"/>
            <a:ext cx="19491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body"/>
          </p:nvPr>
        </p:nvSpPr>
        <p:spPr>
          <a:xfrm>
            <a:off x="5985072" y="1823927"/>
            <a:ext cx="19491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634775" y="2932603"/>
            <a:ext cx="19491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body"/>
          </p:nvPr>
        </p:nvSpPr>
        <p:spPr>
          <a:xfrm>
            <a:off x="3634775" y="3414983"/>
            <a:ext cx="19491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5985054" y="2932603"/>
            <a:ext cx="19491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body"/>
          </p:nvPr>
        </p:nvSpPr>
        <p:spPr>
          <a:xfrm>
            <a:off x="5985054" y="3414983"/>
            <a:ext cx="19491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title"/>
          </p:nvPr>
        </p:nvSpPr>
        <p:spPr>
          <a:xfrm>
            <a:off x="3634800" y="539500"/>
            <a:ext cx="43089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251" name="Google Shape;251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8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/>
          <p:nvPr/>
        </p:nvSpPr>
        <p:spPr>
          <a:xfrm flipH="1" rot="10800000">
            <a:off x="6760803" y="4349724"/>
            <a:ext cx="2549231" cy="2548393"/>
          </a:xfrm>
          <a:custGeom>
            <a:rect b="b" l="l" r="r" t="t"/>
            <a:pathLst>
              <a:path extrusionOk="0" h="94350" w="94381">
                <a:moveTo>
                  <a:pt x="71508" y="1"/>
                </a:moveTo>
                <a:cubicBezTo>
                  <a:pt x="59069" y="1"/>
                  <a:pt x="48998" y="10072"/>
                  <a:pt x="48998" y="22510"/>
                </a:cubicBezTo>
                <a:cubicBezTo>
                  <a:pt x="48998" y="23521"/>
                  <a:pt x="49045" y="24515"/>
                  <a:pt x="49187" y="25494"/>
                </a:cubicBezTo>
                <a:cubicBezTo>
                  <a:pt x="49645" y="28967"/>
                  <a:pt x="50892" y="32171"/>
                  <a:pt x="52739" y="34965"/>
                </a:cubicBezTo>
                <a:cubicBezTo>
                  <a:pt x="55391" y="38943"/>
                  <a:pt x="59274" y="42037"/>
                  <a:pt x="63852" y="43694"/>
                </a:cubicBezTo>
                <a:cubicBezTo>
                  <a:pt x="65414" y="44278"/>
                  <a:pt x="66472" y="45715"/>
                  <a:pt x="66472" y="47372"/>
                </a:cubicBezTo>
                <a:lnTo>
                  <a:pt x="66472" y="47404"/>
                </a:lnTo>
                <a:lnTo>
                  <a:pt x="66472" y="47467"/>
                </a:lnTo>
                <a:cubicBezTo>
                  <a:pt x="66472" y="48872"/>
                  <a:pt x="65557" y="50087"/>
                  <a:pt x="64231" y="50545"/>
                </a:cubicBezTo>
                <a:cubicBezTo>
                  <a:pt x="59416" y="52203"/>
                  <a:pt x="55328" y="55439"/>
                  <a:pt x="52613" y="59637"/>
                </a:cubicBezTo>
                <a:cubicBezTo>
                  <a:pt x="51287" y="61674"/>
                  <a:pt x="50276" y="63947"/>
                  <a:pt x="49692" y="66378"/>
                </a:cubicBezTo>
                <a:cubicBezTo>
                  <a:pt x="49424" y="67420"/>
                  <a:pt x="48508" y="68146"/>
                  <a:pt x="47419" y="68146"/>
                </a:cubicBezTo>
                <a:lnTo>
                  <a:pt x="47372" y="68146"/>
                </a:lnTo>
                <a:cubicBezTo>
                  <a:pt x="45888" y="68146"/>
                  <a:pt x="44594" y="67136"/>
                  <a:pt x="44183" y="65699"/>
                </a:cubicBezTo>
                <a:cubicBezTo>
                  <a:pt x="42699" y="60474"/>
                  <a:pt x="39385" y="56007"/>
                  <a:pt x="34965" y="53071"/>
                </a:cubicBezTo>
                <a:cubicBezTo>
                  <a:pt x="32108" y="51177"/>
                  <a:pt x="28793" y="49914"/>
                  <a:pt x="25209" y="49488"/>
                </a:cubicBezTo>
                <a:cubicBezTo>
                  <a:pt x="24325" y="49377"/>
                  <a:pt x="23426" y="49330"/>
                  <a:pt x="22510" y="49330"/>
                </a:cubicBezTo>
                <a:cubicBezTo>
                  <a:pt x="10087" y="49330"/>
                  <a:pt x="0" y="59416"/>
                  <a:pt x="0" y="71840"/>
                </a:cubicBezTo>
                <a:cubicBezTo>
                  <a:pt x="0" y="84278"/>
                  <a:pt x="10087" y="94349"/>
                  <a:pt x="22510" y="94349"/>
                </a:cubicBezTo>
                <a:cubicBezTo>
                  <a:pt x="23520" y="94349"/>
                  <a:pt x="24531" y="94302"/>
                  <a:pt x="25493" y="94160"/>
                </a:cubicBezTo>
                <a:cubicBezTo>
                  <a:pt x="28966" y="93702"/>
                  <a:pt x="32186" y="92455"/>
                  <a:pt x="34965" y="90608"/>
                </a:cubicBezTo>
                <a:cubicBezTo>
                  <a:pt x="38943" y="87956"/>
                  <a:pt x="42052" y="84073"/>
                  <a:pt x="43710" y="79495"/>
                </a:cubicBezTo>
                <a:cubicBezTo>
                  <a:pt x="44278" y="77933"/>
                  <a:pt x="45714" y="76875"/>
                  <a:pt x="47372" y="76875"/>
                </a:cubicBezTo>
                <a:lnTo>
                  <a:pt x="47435" y="76875"/>
                </a:lnTo>
                <a:cubicBezTo>
                  <a:pt x="48682" y="76875"/>
                  <a:pt x="49740" y="77680"/>
                  <a:pt x="50134" y="78864"/>
                </a:cubicBezTo>
                <a:cubicBezTo>
                  <a:pt x="53102" y="87862"/>
                  <a:pt x="61563" y="94349"/>
                  <a:pt x="71555" y="94349"/>
                </a:cubicBezTo>
                <a:lnTo>
                  <a:pt x="71871" y="94349"/>
                </a:lnTo>
                <a:cubicBezTo>
                  <a:pt x="84294" y="94349"/>
                  <a:pt x="94380" y="84278"/>
                  <a:pt x="94380" y="71840"/>
                </a:cubicBezTo>
                <a:cubicBezTo>
                  <a:pt x="94317" y="61279"/>
                  <a:pt x="87056" y="52408"/>
                  <a:pt x="77253" y="49977"/>
                </a:cubicBezTo>
                <a:cubicBezTo>
                  <a:pt x="76070" y="49677"/>
                  <a:pt x="75201" y="48635"/>
                  <a:pt x="75201" y="47420"/>
                </a:cubicBezTo>
                <a:lnTo>
                  <a:pt x="75201" y="47388"/>
                </a:lnTo>
                <a:lnTo>
                  <a:pt x="75201" y="47372"/>
                </a:lnTo>
                <a:cubicBezTo>
                  <a:pt x="75201" y="45888"/>
                  <a:pt x="76212" y="44594"/>
                  <a:pt x="77648" y="44168"/>
                </a:cubicBezTo>
                <a:cubicBezTo>
                  <a:pt x="82873" y="42700"/>
                  <a:pt x="87340" y="39385"/>
                  <a:pt x="90276" y="34965"/>
                </a:cubicBezTo>
                <a:cubicBezTo>
                  <a:pt x="92171" y="32092"/>
                  <a:pt x="93433" y="28777"/>
                  <a:pt x="93860" y="25210"/>
                </a:cubicBezTo>
                <a:cubicBezTo>
                  <a:pt x="93970" y="24326"/>
                  <a:pt x="94017" y="23410"/>
                  <a:pt x="94017" y="22510"/>
                </a:cubicBezTo>
                <a:cubicBezTo>
                  <a:pt x="94017" y="10072"/>
                  <a:pt x="83946" y="1"/>
                  <a:pt x="7150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6"/>
          <p:cNvSpPr/>
          <p:nvPr/>
        </p:nvSpPr>
        <p:spPr>
          <a:xfrm rot="5400000">
            <a:off x="-901942" y="-71825"/>
            <a:ext cx="2562643" cy="1222642"/>
          </a:xfrm>
          <a:custGeom>
            <a:rect b="b" l="l" r="r" t="t"/>
            <a:pathLst>
              <a:path extrusionOk="0" h="45037" w="94397">
                <a:moveTo>
                  <a:pt x="22558" y="1"/>
                </a:moveTo>
                <a:cubicBezTo>
                  <a:pt x="10103" y="1"/>
                  <a:pt x="0" y="10103"/>
                  <a:pt x="0" y="22526"/>
                </a:cubicBezTo>
                <a:cubicBezTo>
                  <a:pt x="0" y="34965"/>
                  <a:pt x="10087" y="45036"/>
                  <a:pt x="22510" y="45036"/>
                </a:cubicBezTo>
                <a:cubicBezTo>
                  <a:pt x="23521" y="45036"/>
                  <a:pt x="24531" y="44989"/>
                  <a:pt x="25494" y="44847"/>
                </a:cubicBezTo>
                <a:cubicBezTo>
                  <a:pt x="28966" y="44389"/>
                  <a:pt x="32187" y="43142"/>
                  <a:pt x="34965" y="41295"/>
                </a:cubicBezTo>
                <a:cubicBezTo>
                  <a:pt x="38959" y="38643"/>
                  <a:pt x="42052" y="34760"/>
                  <a:pt x="43710" y="30182"/>
                </a:cubicBezTo>
                <a:cubicBezTo>
                  <a:pt x="44262" y="28619"/>
                  <a:pt x="45730" y="27562"/>
                  <a:pt x="47388" y="27562"/>
                </a:cubicBezTo>
                <a:lnTo>
                  <a:pt x="47483" y="27562"/>
                </a:lnTo>
                <a:cubicBezTo>
                  <a:pt x="48888" y="27562"/>
                  <a:pt x="50103" y="28493"/>
                  <a:pt x="50561" y="29803"/>
                </a:cubicBezTo>
                <a:cubicBezTo>
                  <a:pt x="52218" y="34618"/>
                  <a:pt x="55454" y="38706"/>
                  <a:pt x="59653" y="41437"/>
                </a:cubicBezTo>
                <a:cubicBezTo>
                  <a:pt x="62510" y="43268"/>
                  <a:pt x="65809" y="44484"/>
                  <a:pt x="69361" y="44878"/>
                </a:cubicBezTo>
                <a:cubicBezTo>
                  <a:pt x="70198" y="44989"/>
                  <a:pt x="71034" y="45020"/>
                  <a:pt x="71887" y="45020"/>
                </a:cubicBezTo>
                <a:cubicBezTo>
                  <a:pt x="84325" y="45020"/>
                  <a:pt x="94396" y="34933"/>
                  <a:pt x="94396" y="22510"/>
                </a:cubicBezTo>
                <a:cubicBezTo>
                  <a:pt x="94396" y="10072"/>
                  <a:pt x="84325" y="1"/>
                  <a:pt x="71887" y="1"/>
                </a:cubicBezTo>
                <a:cubicBezTo>
                  <a:pt x="71113" y="1"/>
                  <a:pt x="70387" y="32"/>
                  <a:pt x="69645" y="111"/>
                </a:cubicBezTo>
                <a:cubicBezTo>
                  <a:pt x="65983" y="474"/>
                  <a:pt x="62589" y="1705"/>
                  <a:pt x="59669" y="3600"/>
                </a:cubicBezTo>
                <a:cubicBezTo>
                  <a:pt x="55044" y="6599"/>
                  <a:pt x="51587" y="11256"/>
                  <a:pt x="50119" y="16733"/>
                </a:cubicBezTo>
                <a:cubicBezTo>
                  <a:pt x="49787" y="17948"/>
                  <a:pt x="48730" y="18817"/>
                  <a:pt x="47467" y="18817"/>
                </a:cubicBezTo>
                <a:lnTo>
                  <a:pt x="47419" y="18817"/>
                </a:lnTo>
                <a:cubicBezTo>
                  <a:pt x="45920" y="18817"/>
                  <a:pt x="44641" y="17806"/>
                  <a:pt x="44231" y="16370"/>
                </a:cubicBezTo>
                <a:cubicBezTo>
                  <a:pt x="42747" y="11145"/>
                  <a:pt x="39432" y="6678"/>
                  <a:pt x="35012" y="3742"/>
                </a:cubicBezTo>
                <a:cubicBezTo>
                  <a:pt x="32155" y="1847"/>
                  <a:pt x="28840" y="585"/>
                  <a:pt x="25257" y="143"/>
                </a:cubicBezTo>
                <a:cubicBezTo>
                  <a:pt x="24373" y="48"/>
                  <a:pt x="23473" y="1"/>
                  <a:pt x="22558" y="1"/>
                </a:cubicBezTo>
                <a:close/>
              </a:path>
            </a:pathLst>
          </a:custGeom>
          <a:solidFill>
            <a:srgbClr val="BDE0D9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6"/>
          <p:cNvSpPr txBox="1"/>
          <p:nvPr>
            <p:ph idx="1" type="subTitle"/>
          </p:nvPr>
        </p:nvSpPr>
        <p:spPr>
          <a:xfrm>
            <a:off x="6207375" y="2962742"/>
            <a:ext cx="22740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2" type="body"/>
          </p:nvPr>
        </p:nvSpPr>
        <p:spPr>
          <a:xfrm>
            <a:off x="6207379" y="3449123"/>
            <a:ext cx="227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7" name="Google Shape;257;p26"/>
          <p:cNvSpPr txBox="1"/>
          <p:nvPr>
            <p:ph idx="3" type="subTitle"/>
          </p:nvPr>
        </p:nvSpPr>
        <p:spPr>
          <a:xfrm>
            <a:off x="3479699" y="2962742"/>
            <a:ext cx="22740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4" type="body"/>
          </p:nvPr>
        </p:nvSpPr>
        <p:spPr>
          <a:xfrm>
            <a:off x="3479707" y="3449123"/>
            <a:ext cx="227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5" type="subTitle"/>
          </p:nvPr>
        </p:nvSpPr>
        <p:spPr>
          <a:xfrm>
            <a:off x="763813" y="2962742"/>
            <a:ext cx="22740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 b="1"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Josefin Sans"/>
              <a:buNone/>
              <a:defRPr sz="1800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6" type="body"/>
          </p:nvPr>
        </p:nvSpPr>
        <p:spPr>
          <a:xfrm>
            <a:off x="763825" y="3449123"/>
            <a:ext cx="227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1" name="Google Shape;261;p26"/>
          <p:cNvSpPr txBox="1"/>
          <p:nvPr>
            <p:ph type="title"/>
          </p:nvPr>
        </p:nvSpPr>
        <p:spPr>
          <a:xfrm>
            <a:off x="873450" y="549075"/>
            <a:ext cx="73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262" name="Google Shape;26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2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/>
          <p:nvPr/>
        </p:nvSpPr>
        <p:spPr>
          <a:xfrm>
            <a:off x="7058457" y="2386493"/>
            <a:ext cx="2549231" cy="2548394"/>
          </a:xfrm>
          <a:custGeom>
            <a:rect b="b" l="l" r="r" t="t"/>
            <a:pathLst>
              <a:path extrusionOk="0" h="94350" w="94381">
                <a:moveTo>
                  <a:pt x="71508" y="1"/>
                </a:moveTo>
                <a:cubicBezTo>
                  <a:pt x="59069" y="1"/>
                  <a:pt x="48998" y="10072"/>
                  <a:pt x="48998" y="22510"/>
                </a:cubicBezTo>
                <a:cubicBezTo>
                  <a:pt x="48998" y="23521"/>
                  <a:pt x="49045" y="24515"/>
                  <a:pt x="49187" y="25494"/>
                </a:cubicBezTo>
                <a:cubicBezTo>
                  <a:pt x="49645" y="28967"/>
                  <a:pt x="50892" y="32171"/>
                  <a:pt x="52739" y="34965"/>
                </a:cubicBezTo>
                <a:cubicBezTo>
                  <a:pt x="55391" y="38943"/>
                  <a:pt x="59274" y="42037"/>
                  <a:pt x="63852" y="43694"/>
                </a:cubicBezTo>
                <a:cubicBezTo>
                  <a:pt x="65414" y="44278"/>
                  <a:pt x="66472" y="45715"/>
                  <a:pt x="66472" y="47372"/>
                </a:cubicBezTo>
                <a:lnTo>
                  <a:pt x="66472" y="47404"/>
                </a:lnTo>
                <a:lnTo>
                  <a:pt x="66472" y="47467"/>
                </a:lnTo>
                <a:cubicBezTo>
                  <a:pt x="66472" y="48872"/>
                  <a:pt x="65557" y="50087"/>
                  <a:pt x="64231" y="50545"/>
                </a:cubicBezTo>
                <a:cubicBezTo>
                  <a:pt x="59416" y="52203"/>
                  <a:pt x="55328" y="55439"/>
                  <a:pt x="52613" y="59637"/>
                </a:cubicBezTo>
                <a:cubicBezTo>
                  <a:pt x="51287" y="61674"/>
                  <a:pt x="50276" y="63947"/>
                  <a:pt x="49692" y="66378"/>
                </a:cubicBezTo>
                <a:cubicBezTo>
                  <a:pt x="49424" y="67420"/>
                  <a:pt x="48508" y="68146"/>
                  <a:pt x="47419" y="68146"/>
                </a:cubicBezTo>
                <a:lnTo>
                  <a:pt x="47372" y="68146"/>
                </a:lnTo>
                <a:cubicBezTo>
                  <a:pt x="45888" y="68146"/>
                  <a:pt x="44594" y="67136"/>
                  <a:pt x="44183" y="65699"/>
                </a:cubicBezTo>
                <a:cubicBezTo>
                  <a:pt x="42699" y="60474"/>
                  <a:pt x="39385" y="56007"/>
                  <a:pt x="34965" y="53071"/>
                </a:cubicBezTo>
                <a:cubicBezTo>
                  <a:pt x="32108" y="51177"/>
                  <a:pt x="28793" y="49914"/>
                  <a:pt x="25209" y="49488"/>
                </a:cubicBezTo>
                <a:cubicBezTo>
                  <a:pt x="24325" y="49377"/>
                  <a:pt x="23426" y="49330"/>
                  <a:pt x="22510" y="49330"/>
                </a:cubicBezTo>
                <a:cubicBezTo>
                  <a:pt x="10087" y="49330"/>
                  <a:pt x="0" y="59416"/>
                  <a:pt x="0" y="71840"/>
                </a:cubicBezTo>
                <a:cubicBezTo>
                  <a:pt x="0" y="84278"/>
                  <a:pt x="10087" y="94349"/>
                  <a:pt x="22510" y="94349"/>
                </a:cubicBezTo>
                <a:cubicBezTo>
                  <a:pt x="23520" y="94349"/>
                  <a:pt x="24531" y="94302"/>
                  <a:pt x="25493" y="94160"/>
                </a:cubicBezTo>
                <a:cubicBezTo>
                  <a:pt x="28966" y="93702"/>
                  <a:pt x="32186" y="92455"/>
                  <a:pt x="34965" y="90608"/>
                </a:cubicBezTo>
                <a:cubicBezTo>
                  <a:pt x="38943" y="87956"/>
                  <a:pt x="42052" y="84073"/>
                  <a:pt x="43710" y="79495"/>
                </a:cubicBezTo>
                <a:cubicBezTo>
                  <a:pt x="44278" y="77933"/>
                  <a:pt x="45714" y="76875"/>
                  <a:pt x="47372" y="76875"/>
                </a:cubicBezTo>
                <a:lnTo>
                  <a:pt x="47435" y="76875"/>
                </a:lnTo>
                <a:cubicBezTo>
                  <a:pt x="48682" y="76875"/>
                  <a:pt x="49740" y="77680"/>
                  <a:pt x="50134" y="78864"/>
                </a:cubicBezTo>
                <a:cubicBezTo>
                  <a:pt x="53102" y="87862"/>
                  <a:pt x="61563" y="94349"/>
                  <a:pt x="71555" y="94349"/>
                </a:cubicBezTo>
                <a:lnTo>
                  <a:pt x="71871" y="94349"/>
                </a:lnTo>
                <a:cubicBezTo>
                  <a:pt x="84294" y="94349"/>
                  <a:pt x="94380" y="84278"/>
                  <a:pt x="94380" y="71840"/>
                </a:cubicBezTo>
                <a:cubicBezTo>
                  <a:pt x="94317" y="61279"/>
                  <a:pt x="87056" y="52408"/>
                  <a:pt x="77253" y="49977"/>
                </a:cubicBezTo>
                <a:cubicBezTo>
                  <a:pt x="76070" y="49677"/>
                  <a:pt x="75201" y="48635"/>
                  <a:pt x="75201" y="47420"/>
                </a:cubicBezTo>
                <a:lnTo>
                  <a:pt x="75201" y="47388"/>
                </a:lnTo>
                <a:lnTo>
                  <a:pt x="75201" y="47372"/>
                </a:lnTo>
                <a:cubicBezTo>
                  <a:pt x="75201" y="45888"/>
                  <a:pt x="76212" y="44594"/>
                  <a:pt x="77648" y="44168"/>
                </a:cubicBezTo>
                <a:cubicBezTo>
                  <a:pt x="82873" y="42700"/>
                  <a:pt x="87340" y="39385"/>
                  <a:pt x="90276" y="34965"/>
                </a:cubicBezTo>
                <a:cubicBezTo>
                  <a:pt x="92171" y="32092"/>
                  <a:pt x="93433" y="28777"/>
                  <a:pt x="93860" y="25210"/>
                </a:cubicBezTo>
                <a:cubicBezTo>
                  <a:pt x="93970" y="24326"/>
                  <a:pt x="94017" y="23410"/>
                  <a:pt x="94017" y="22510"/>
                </a:cubicBezTo>
                <a:cubicBezTo>
                  <a:pt x="94017" y="10072"/>
                  <a:pt x="83946" y="1"/>
                  <a:pt x="71508" y="1"/>
                </a:cubicBezTo>
                <a:close/>
              </a:path>
            </a:pathLst>
          </a:custGeom>
          <a:solidFill>
            <a:srgbClr val="BDE0D9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7"/>
          <p:cNvSpPr/>
          <p:nvPr/>
        </p:nvSpPr>
        <p:spPr>
          <a:xfrm>
            <a:off x="8412501" y="1016875"/>
            <a:ext cx="1216200" cy="1216200"/>
          </a:xfrm>
          <a:prstGeom prst="ellipse">
            <a:avLst/>
          </a:prstGeom>
          <a:solidFill>
            <a:srgbClr val="FEFADD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7"/>
          <p:cNvSpPr/>
          <p:nvPr/>
        </p:nvSpPr>
        <p:spPr>
          <a:xfrm rot="5400000">
            <a:off x="-909092" y="3506613"/>
            <a:ext cx="2562643" cy="1222642"/>
          </a:xfrm>
          <a:custGeom>
            <a:rect b="b" l="l" r="r" t="t"/>
            <a:pathLst>
              <a:path extrusionOk="0" h="45037" w="94397">
                <a:moveTo>
                  <a:pt x="22558" y="1"/>
                </a:moveTo>
                <a:cubicBezTo>
                  <a:pt x="10103" y="1"/>
                  <a:pt x="0" y="10103"/>
                  <a:pt x="0" y="22526"/>
                </a:cubicBezTo>
                <a:cubicBezTo>
                  <a:pt x="0" y="34965"/>
                  <a:pt x="10087" y="45036"/>
                  <a:pt x="22510" y="45036"/>
                </a:cubicBezTo>
                <a:cubicBezTo>
                  <a:pt x="23521" y="45036"/>
                  <a:pt x="24531" y="44989"/>
                  <a:pt x="25494" y="44847"/>
                </a:cubicBezTo>
                <a:cubicBezTo>
                  <a:pt x="28966" y="44389"/>
                  <a:pt x="32187" y="43142"/>
                  <a:pt x="34965" y="41295"/>
                </a:cubicBezTo>
                <a:cubicBezTo>
                  <a:pt x="38959" y="38643"/>
                  <a:pt x="42052" y="34760"/>
                  <a:pt x="43710" y="30182"/>
                </a:cubicBezTo>
                <a:cubicBezTo>
                  <a:pt x="44262" y="28619"/>
                  <a:pt x="45730" y="27562"/>
                  <a:pt x="47388" y="27562"/>
                </a:cubicBezTo>
                <a:lnTo>
                  <a:pt x="47483" y="27562"/>
                </a:lnTo>
                <a:cubicBezTo>
                  <a:pt x="48888" y="27562"/>
                  <a:pt x="50103" y="28493"/>
                  <a:pt x="50561" y="29803"/>
                </a:cubicBezTo>
                <a:cubicBezTo>
                  <a:pt x="52218" y="34618"/>
                  <a:pt x="55454" y="38706"/>
                  <a:pt x="59653" y="41437"/>
                </a:cubicBezTo>
                <a:cubicBezTo>
                  <a:pt x="62510" y="43268"/>
                  <a:pt x="65809" y="44484"/>
                  <a:pt x="69361" y="44878"/>
                </a:cubicBezTo>
                <a:cubicBezTo>
                  <a:pt x="70198" y="44989"/>
                  <a:pt x="71034" y="45020"/>
                  <a:pt x="71887" y="45020"/>
                </a:cubicBezTo>
                <a:cubicBezTo>
                  <a:pt x="84325" y="45020"/>
                  <a:pt x="94396" y="34933"/>
                  <a:pt x="94396" y="22510"/>
                </a:cubicBezTo>
                <a:cubicBezTo>
                  <a:pt x="94396" y="10072"/>
                  <a:pt x="84325" y="1"/>
                  <a:pt x="71887" y="1"/>
                </a:cubicBezTo>
                <a:cubicBezTo>
                  <a:pt x="71113" y="1"/>
                  <a:pt x="70387" y="32"/>
                  <a:pt x="69645" y="111"/>
                </a:cubicBezTo>
                <a:cubicBezTo>
                  <a:pt x="65983" y="474"/>
                  <a:pt x="62589" y="1705"/>
                  <a:pt x="59669" y="3600"/>
                </a:cubicBezTo>
                <a:cubicBezTo>
                  <a:pt x="55044" y="6599"/>
                  <a:pt x="51587" y="11256"/>
                  <a:pt x="50119" y="16733"/>
                </a:cubicBezTo>
                <a:cubicBezTo>
                  <a:pt x="49787" y="17948"/>
                  <a:pt x="48730" y="18817"/>
                  <a:pt x="47467" y="18817"/>
                </a:cubicBezTo>
                <a:lnTo>
                  <a:pt x="47419" y="18817"/>
                </a:lnTo>
                <a:cubicBezTo>
                  <a:pt x="45920" y="18817"/>
                  <a:pt x="44641" y="17806"/>
                  <a:pt x="44231" y="16370"/>
                </a:cubicBezTo>
                <a:cubicBezTo>
                  <a:pt x="42747" y="11145"/>
                  <a:pt x="39432" y="6678"/>
                  <a:pt x="35012" y="3742"/>
                </a:cubicBezTo>
                <a:cubicBezTo>
                  <a:pt x="32155" y="1847"/>
                  <a:pt x="28840" y="585"/>
                  <a:pt x="25257" y="143"/>
                </a:cubicBezTo>
                <a:cubicBezTo>
                  <a:pt x="24373" y="48"/>
                  <a:pt x="23473" y="1"/>
                  <a:pt x="22558" y="1"/>
                </a:cubicBezTo>
                <a:close/>
              </a:path>
            </a:pathLst>
          </a:custGeom>
          <a:solidFill>
            <a:srgbClr val="BDE0D9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7"/>
          <p:cNvSpPr/>
          <p:nvPr/>
        </p:nvSpPr>
        <p:spPr>
          <a:xfrm>
            <a:off x="1077889" y="4182918"/>
            <a:ext cx="1216200" cy="1216200"/>
          </a:xfrm>
          <a:prstGeom prst="ellipse">
            <a:avLst/>
          </a:prstGeom>
          <a:solidFill>
            <a:srgbClr val="B8E5FA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2388613" y="4182843"/>
            <a:ext cx="1216200" cy="1216200"/>
          </a:xfrm>
          <a:prstGeom prst="ellipse">
            <a:avLst/>
          </a:prstGeom>
          <a:solidFill>
            <a:srgbClr val="B8E5FA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7"/>
          <p:cNvSpPr txBox="1"/>
          <p:nvPr>
            <p:ph idx="1" type="body"/>
          </p:nvPr>
        </p:nvSpPr>
        <p:spPr>
          <a:xfrm>
            <a:off x="1200200" y="1578425"/>
            <a:ext cx="4507800" cy="18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Livvic"/>
              <a:buAutoNum type="arabicPeriod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270" name="Google Shape;270;p27"/>
          <p:cNvSpPr txBox="1"/>
          <p:nvPr>
            <p:ph type="title"/>
          </p:nvPr>
        </p:nvSpPr>
        <p:spPr>
          <a:xfrm>
            <a:off x="1200200" y="933657"/>
            <a:ext cx="6743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271" name="Google Shape;27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4">
  <p:cSld name="CUSTOM_22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7058457" y="2386493"/>
            <a:ext cx="2549231" cy="2548394"/>
          </a:xfrm>
          <a:custGeom>
            <a:rect b="b" l="l" r="r" t="t"/>
            <a:pathLst>
              <a:path extrusionOk="0" h="94350" w="94381">
                <a:moveTo>
                  <a:pt x="71508" y="1"/>
                </a:moveTo>
                <a:cubicBezTo>
                  <a:pt x="59069" y="1"/>
                  <a:pt x="48998" y="10072"/>
                  <a:pt x="48998" y="22510"/>
                </a:cubicBezTo>
                <a:cubicBezTo>
                  <a:pt x="48998" y="23521"/>
                  <a:pt x="49045" y="24515"/>
                  <a:pt x="49187" y="25494"/>
                </a:cubicBezTo>
                <a:cubicBezTo>
                  <a:pt x="49645" y="28967"/>
                  <a:pt x="50892" y="32171"/>
                  <a:pt x="52739" y="34965"/>
                </a:cubicBezTo>
                <a:cubicBezTo>
                  <a:pt x="55391" y="38943"/>
                  <a:pt x="59274" y="42037"/>
                  <a:pt x="63852" y="43694"/>
                </a:cubicBezTo>
                <a:cubicBezTo>
                  <a:pt x="65414" y="44278"/>
                  <a:pt x="66472" y="45715"/>
                  <a:pt x="66472" y="47372"/>
                </a:cubicBezTo>
                <a:lnTo>
                  <a:pt x="66472" y="47404"/>
                </a:lnTo>
                <a:lnTo>
                  <a:pt x="66472" y="47467"/>
                </a:lnTo>
                <a:cubicBezTo>
                  <a:pt x="66472" y="48872"/>
                  <a:pt x="65557" y="50087"/>
                  <a:pt x="64231" y="50545"/>
                </a:cubicBezTo>
                <a:cubicBezTo>
                  <a:pt x="59416" y="52203"/>
                  <a:pt x="55328" y="55439"/>
                  <a:pt x="52613" y="59637"/>
                </a:cubicBezTo>
                <a:cubicBezTo>
                  <a:pt x="51287" y="61674"/>
                  <a:pt x="50276" y="63947"/>
                  <a:pt x="49692" y="66378"/>
                </a:cubicBezTo>
                <a:cubicBezTo>
                  <a:pt x="49424" y="67420"/>
                  <a:pt x="48508" y="68146"/>
                  <a:pt x="47419" y="68146"/>
                </a:cubicBezTo>
                <a:lnTo>
                  <a:pt x="47372" y="68146"/>
                </a:lnTo>
                <a:cubicBezTo>
                  <a:pt x="45888" y="68146"/>
                  <a:pt x="44594" y="67136"/>
                  <a:pt x="44183" y="65699"/>
                </a:cubicBezTo>
                <a:cubicBezTo>
                  <a:pt x="42699" y="60474"/>
                  <a:pt x="39385" y="56007"/>
                  <a:pt x="34965" y="53071"/>
                </a:cubicBezTo>
                <a:cubicBezTo>
                  <a:pt x="32108" y="51177"/>
                  <a:pt x="28793" y="49914"/>
                  <a:pt x="25209" y="49488"/>
                </a:cubicBezTo>
                <a:cubicBezTo>
                  <a:pt x="24325" y="49377"/>
                  <a:pt x="23426" y="49330"/>
                  <a:pt x="22510" y="49330"/>
                </a:cubicBezTo>
                <a:cubicBezTo>
                  <a:pt x="10087" y="49330"/>
                  <a:pt x="0" y="59416"/>
                  <a:pt x="0" y="71840"/>
                </a:cubicBezTo>
                <a:cubicBezTo>
                  <a:pt x="0" y="84278"/>
                  <a:pt x="10087" y="94349"/>
                  <a:pt x="22510" y="94349"/>
                </a:cubicBezTo>
                <a:cubicBezTo>
                  <a:pt x="23520" y="94349"/>
                  <a:pt x="24531" y="94302"/>
                  <a:pt x="25493" y="94160"/>
                </a:cubicBezTo>
                <a:cubicBezTo>
                  <a:pt x="28966" y="93702"/>
                  <a:pt x="32186" y="92455"/>
                  <a:pt x="34965" y="90608"/>
                </a:cubicBezTo>
                <a:cubicBezTo>
                  <a:pt x="38943" y="87956"/>
                  <a:pt x="42052" y="84073"/>
                  <a:pt x="43710" y="79495"/>
                </a:cubicBezTo>
                <a:cubicBezTo>
                  <a:pt x="44278" y="77933"/>
                  <a:pt x="45714" y="76875"/>
                  <a:pt x="47372" y="76875"/>
                </a:cubicBezTo>
                <a:lnTo>
                  <a:pt x="47435" y="76875"/>
                </a:lnTo>
                <a:cubicBezTo>
                  <a:pt x="48682" y="76875"/>
                  <a:pt x="49740" y="77680"/>
                  <a:pt x="50134" y="78864"/>
                </a:cubicBezTo>
                <a:cubicBezTo>
                  <a:pt x="53102" y="87862"/>
                  <a:pt x="61563" y="94349"/>
                  <a:pt x="71555" y="94349"/>
                </a:cubicBezTo>
                <a:lnTo>
                  <a:pt x="71871" y="94349"/>
                </a:lnTo>
                <a:cubicBezTo>
                  <a:pt x="84294" y="94349"/>
                  <a:pt x="94380" y="84278"/>
                  <a:pt x="94380" y="71840"/>
                </a:cubicBezTo>
                <a:cubicBezTo>
                  <a:pt x="94317" y="61279"/>
                  <a:pt x="87056" y="52408"/>
                  <a:pt x="77253" y="49977"/>
                </a:cubicBezTo>
                <a:cubicBezTo>
                  <a:pt x="76070" y="49677"/>
                  <a:pt x="75201" y="48635"/>
                  <a:pt x="75201" y="47420"/>
                </a:cubicBezTo>
                <a:lnTo>
                  <a:pt x="75201" y="47388"/>
                </a:lnTo>
                <a:lnTo>
                  <a:pt x="75201" y="47372"/>
                </a:lnTo>
                <a:cubicBezTo>
                  <a:pt x="75201" y="45888"/>
                  <a:pt x="76212" y="44594"/>
                  <a:pt x="77648" y="44168"/>
                </a:cubicBezTo>
                <a:cubicBezTo>
                  <a:pt x="82873" y="42700"/>
                  <a:pt x="87340" y="39385"/>
                  <a:pt x="90276" y="34965"/>
                </a:cubicBezTo>
                <a:cubicBezTo>
                  <a:pt x="92171" y="32092"/>
                  <a:pt x="93433" y="28777"/>
                  <a:pt x="93860" y="25210"/>
                </a:cubicBezTo>
                <a:cubicBezTo>
                  <a:pt x="93970" y="24326"/>
                  <a:pt x="94017" y="23410"/>
                  <a:pt x="94017" y="22510"/>
                </a:cubicBezTo>
                <a:cubicBezTo>
                  <a:pt x="94017" y="10072"/>
                  <a:pt x="83946" y="1"/>
                  <a:pt x="71508" y="1"/>
                </a:cubicBezTo>
                <a:close/>
              </a:path>
            </a:pathLst>
          </a:custGeom>
          <a:solidFill>
            <a:srgbClr val="BDE0D9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"/>
          <p:cNvSpPr/>
          <p:nvPr/>
        </p:nvSpPr>
        <p:spPr>
          <a:xfrm>
            <a:off x="8412501" y="1016875"/>
            <a:ext cx="1216200" cy="1216200"/>
          </a:xfrm>
          <a:prstGeom prst="ellipse">
            <a:avLst/>
          </a:prstGeom>
          <a:solidFill>
            <a:srgbClr val="FEFADD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"/>
          <p:cNvSpPr txBox="1"/>
          <p:nvPr>
            <p:ph type="title"/>
          </p:nvPr>
        </p:nvSpPr>
        <p:spPr>
          <a:xfrm>
            <a:off x="5076475" y="1642525"/>
            <a:ext cx="2684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6" name="Google Shape;276;p28"/>
          <p:cNvSpPr txBox="1"/>
          <p:nvPr>
            <p:ph idx="1" type="body"/>
          </p:nvPr>
        </p:nvSpPr>
        <p:spPr>
          <a:xfrm>
            <a:off x="5076475" y="2286000"/>
            <a:ext cx="2684100" cy="12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7" name="Google Shape;277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9">
    <p:bg>
      <p:bgPr>
        <a:solidFill>
          <a:schemeClr val="dk2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/>
          <p:nvPr/>
        </p:nvSpPr>
        <p:spPr>
          <a:xfrm>
            <a:off x="713225" y="0"/>
            <a:ext cx="3858600" cy="435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9"/>
          <p:cNvSpPr/>
          <p:nvPr/>
        </p:nvSpPr>
        <p:spPr>
          <a:xfrm>
            <a:off x="713275" y="4355250"/>
            <a:ext cx="3858600" cy="2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1" name="Google Shape;281;p29"/>
          <p:cNvGrpSpPr/>
          <p:nvPr/>
        </p:nvGrpSpPr>
        <p:grpSpPr>
          <a:xfrm>
            <a:off x="3875510" y="-27116"/>
            <a:ext cx="5278991" cy="5190602"/>
            <a:chOff x="3862235" y="-3103"/>
            <a:chExt cx="5278991" cy="5190602"/>
          </a:xfrm>
        </p:grpSpPr>
        <p:sp>
          <p:nvSpPr>
            <p:cNvPr id="282" name="Google Shape;282;p29"/>
            <p:cNvSpPr/>
            <p:nvPr/>
          </p:nvSpPr>
          <p:spPr>
            <a:xfrm>
              <a:off x="6587982" y="2639105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7925026" y="1374262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7925026" y="31710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9"/>
            <p:cNvSpPr/>
            <p:nvPr/>
          </p:nvSpPr>
          <p:spPr>
            <a:xfrm rot="5400000">
              <a:off x="5942773" y="707438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BDE0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4520418" y="556062"/>
              <a:ext cx="1430700" cy="14085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9"/>
            <p:cNvSpPr/>
            <p:nvPr/>
          </p:nvSpPr>
          <p:spPr>
            <a:xfrm rot="5546733">
              <a:off x="3918294" y="46694"/>
              <a:ext cx="2531718" cy="2538119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5225354" y="1374262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393565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29"/>
          <p:cNvSpPr txBox="1"/>
          <p:nvPr>
            <p:ph type="title"/>
          </p:nvPr>
        </p:nvSpPr>
        <p:spPr>
          <a:xfrm>
            <a:off x="1200238" y="882550"/>
            <a:ext cx="28956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1" name="Google Shape;291;p29"/>
          <p:cNvSpPr txBox="1"/>
          <p:nvPr>
            <p:ph idx="1" type="subTitle"/>
          </p:nvPr>
        </p:nvSpPr>
        <p:spPr>
          <a:xfrm>
            <a:off x="1200200" y="1593679"/>
            <a:ext cx="28956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None/>
              <a:defRPr b="1" sz="18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800"/>
              <a:buFont typeface="Courier New"/>
              <a:buNone/>
              <a:defRPr b="1" sz="1800">
                <a:latin typeface="Courier New"/>
                <a:ea typeface="Courier New"/>
                <a:cs typeface="Courier New"/>
                <a:sym typeface="Courier New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800"/>
              <a:buFont typeface="Courier New"/>
              <a:buNone/>
              <a:defRPr b="1" sz="1800">
                <a:latin typeface="Courier New"/>
                <a:ea typeface="Courier New"/>
                <a:cs typeface="Courier New"/>
                <a:sym typeface="Courier New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800"/>
              <a:buFont typeface="Courier New"/>
              <a:buNone/>
              <a:defRPr b="1" sz="1800">
                <a:latin typeface="Courier New"/>
                <a:ea typeface="Courier New"/>
                <a:cs typeface="Courier New"/>
                <a:sym typeface="Courier New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800"/>
              <a:buFont typeface="Courier New"/>
              <a:buNone/>
              <a:defRPr b="1" sz="1800">
                <a:latin typeface="Courier New"/>
                <a:ea typeface="Courier New"/>
                <a:cs typeface="Courier New"/>
                <a:sym typeface="Courier New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800"/>
              <a:buFont typeface="Courier New"/>
              <a:buNone/>
              <a:defRPr b="1" sz="1800">
                <a:latin typeface="Courier New"/>
                <a:ea typeface="Courier New"/>
                <a:cs typeface="Courier New"/>
                <a:sym typeface="Courier New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800"/>
              <a:buFont typeface="Courier New"/>
              <a:buNone/>
              <a:defRPr b="1" sz="1800">
                <a:latin typeface="Courier New"/>
                <a:ea typeface="Courier New"/>
                <a:cs typeface="Courier New"/>
                <a:sym typeface="Courier New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800"/>
              <a:buFont typeface="Courier New"/>
              <a:buNone/>
              <a:defRPr b="1" sz="1800">
                <a:latin typeface="Courier New"/>
                <a:ea typeface="Courier New"/>
                <a:cs typeface="Courier New"/>
                <a:sym typeface="Courier New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800"/>
              <a:buFont typeface="Courier New"/>
              <a:buNone/>
              <a:defRPr b="1" sz="18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2" type="body"/>
          </p:nvPr>
        </p:nvSpPr>
        <p:spPr>
          <a:xfrm>
            <a:off x="1200201" y="2851325"/>
            <a:ext cx="26754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3" name="Google Shape;293;p29"/>
          <p:cNvSpPr txBox="1"/>
          <p:nvPr/>
        </p:nvSpPr>
        <p:spPr>
          <a:xfrm>
            <a:off x="4864700" y="2918000"/>
            <a:ext cx="35661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lang="en" sz="1200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including icons by </a:t>
            </a:r>
            <a:r>
              <a:rPr b="1" lang="en" sz="1200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lang="en" sz="1200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3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30"/>
          <p:cNvGrpSpPr/>
          <p:nvPr/>
        </p:nvGrpSpPr>
        <p:grpSpPr>
          <a:xfrm>
            <a:off x="-10492" y="7631"/>
            <a:ext cx="3843905" cy="5163024"/>
            <a:chOff x="-23767" y="31644"/>
            <a:chExt cx="3843905" cy="5163024"/>
          </a:xfrm>
        </p:grpSpPr>
        <p:sp>
          <p:nvSpPr>
            <p:cNvPr id="297" name="Google Shape;297;p30"/>
            <p:cNvSpPr/>
            <p:nvPr/>
          </p:nvSpPr>
          <p:spPr>
            <a:xfrm>
              <a:off x="-17609" y="1321257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0"/>
            <p:cNvSpPr/>
            <p:nvPr/>
          </p:nvSpPr>
          <p:spPr>
            <a:xfrm rot="5400000">
              <a:off x="-693767" y="3302025"/>
              <a:ext cx="2562643" cy="1222642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-1752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293214" y="3978331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2603938" y="3978256"/>
              <a:ext cx="1216200" cy="121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31"/>
          <p:cNvGrpSpPr/>
          <p:nvPr/>
        </p:nvGrpSpPr>
        <p:grpSpPr>
          <a:xfrm>
            <a:off x="3875510" y="-27116"/>
            <a:ext cx="5278991" cy="5190602"/>
            <a:chOff x="3862235" y="-3103"/>
            <a:chExt cx="5278991" cy="5190602"/>
          </a:xfrm>
        </p:grpSpPr>
        <p:sp>
          <p:nvSpPr>
            <p:cNvPr id="305" name="Google Shape;305;p31"/>
            <p:cNvSpPr/>
            <p:nvPr/>
          </p:nvSpPr>
          <p:spPr>
            <a:xfrm>
              <a:off x="6587982" y="2639105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1"/>
            <p:cNvSpPr/>
            <p:nvPr/>
          </p:nvSpPr>
          <p:spPr>
            <a:xfrm>
              <a:off x="7925026" y="1374262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1"/>
            <p:cNvSpPr/>
            <p:nvPr/>
          </p:nvSpPr>
          <p:spPr>
            <a:xfrm>
              <a:off x="7925026" y="31710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1"/>
            <p:cNvSpPr/>
            <p:nvPr/>
          </p:nvSpPr>
          <p:spPr>
            <a:xfrm rot="5400000">
              <a:off x="5942773" y="707438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BDE0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1"/>
            <p:cNvSpPr/>
            <p:nvPr/>
          </p:nvSpPr>
          <p:spPr>
            <a:xfrm>
              <a:off x="4520418" y="556062"/>
              <a:ext cx="1430700" cy="14085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1"/>
            <p:cNvSpPr/>
            <p:nvPr/>
          </p:nvSpPr>
          <p:spPr>
            <a:xfrm rot="5546733">
              <a:off x="3918294" y="46694"/>
              <a:ext cx="2531718" cy="2538119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1"/>
            <p:cNvSpPr/>
            <p:nvPr/>
          </p:nvSpPr>
          <p:spPr>
            <a:xfrm>
              <a:off x="5225354" y="1374262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1"/>
            <p:cNvSpPr/>
            <p:nvPr/>
          </p:nvSpPr>
          <p:spPr>
            <a:xfrm>
              <a:off x="393565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5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32"/>
          <p:cNvGrpSpPr/>
          <p:nvPr/>
        </p:nvGrpSpPr>
        <p:grpSpPr>
          <a:xfrm>
            <a:off x="-10492" y="-27116"/>
            <a:ext cx="9164993" cy="5197771"/>
            <a:chOff x="-23767" y="-3103"/>
            <a:chExt cx="9164993" cy="5197771"/>
          </a:xfrm>
        </p:grpSpPr>
        <p:sp>
          <p:nvSpPr>
            <p:cNvPr id="316" name="Google Shape;316;p32"/>
            <p:cNvSpPr/>
            <p:nvPr/>
          </p:nvSpPr>
          <p:spPr>
            <a:xfrm>
              <a:off x="6609504" y="2634631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6587982" y="2639105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2"/>
            <p:cNvSpPr/>
            <p:nvPr/>
          </p:nvSpPr>
          <p:spPr>
            <a:xfrm>
              <a:off x="7925026" y="1374262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2"/>
            <p:cNvSpPr/>
            <p:nvPr/>
          </p:nvSpPr>
          <p:spPr>
            <a:xfrm>
              <a:off x="7925026" y="31710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 rot="5400000">
              <a:off x="5942773" y="707438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4520418" y="556062"/>
              <a:ext cx="1430700" cy="14085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772476" y="2131309"/>
              <a:ext cx="2257800" cy="2222700"/>
            </a:xfrm>
            <a:prstGeom prst="ellipse">
              <a:avLst/>
            </a:prstGeom>
            <a:solidFill>
              <a:srgbClr val="FAE0CF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 rot="5400000">
              <a:off x="4558623" y="3305075"/>
              <a:ext cx="2549663" cy="1216449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2"/>
            <p:cNvSpPr/>
            <p:nvPr/>
          </p:nvSpPr>
          <p:spPr>
            <a:xfrm rot="5400000">
              <a:off x="1313432" y="41468"/>
              <a:ext cx="2549231" cy="2548394"/>
            </a:xfrm>
            <a:custGeom>
              <a:rect b="b" l="l" r="r" t="t"/>
              <a:pathLst>
                <a:path extrusionOk="0" h="94350" w="94381">
                  <a:moveTo>
                    <a:pt x="71508" y="1"/>
                  </a:moveTo>
                  <a:cubicBezTo>
                    <a:pt x="59069" y="1"/>
                    <a:pt x="48998" y="10072"/>
                    <a:pt x="48998" y="22510"/>
                  </a:cubicBezTo>
                  <a:cubicBezTo>
                    <a:pt x="48998" y="23521"/>
                    <a:pt x="49045" y="24515"/>
                    <a:pt x="49187" y="25494"/>
                  </a:cubicBezTo>
                  <a:cubicBezTo>
                    <a:pt x="49645" y="28967"/>
                    <a:pt x="50892" y="32171"/>
                    <a:pt x="52739" y="34965"/>
                  </a:cubicBezTo>
                  <a:cubicBezTo>
                    <a:pt x="55391" y="38943"/>
                    <a:pt x="59274" y="42037"/>
                    <a:pt x="63852" y="43694"/>
                  </a:cubicBezTo>
                  <a:cubicBezTo>
                    <a:pt x="65414" y="44278"/>
                    <a:pt x="66472" y="45715"/>
                    <a:pt x="66472" y="47372"/>
                  </a:cubicBezTo>
                  <a:lnTo>
                    <a:pt x="66472" y="47404"/>
                  </a:lnTo>
                  <a:lnTo>
                    <a:pt x="66472" y="47467"/>
                  </a:lnTo>
                  <a:cubicBezTo>
                    <a:pt x="66472" y="48872"/>
                    <a:pt x="65557" y="50087"/>
                    <a:pt x="64231" y="50545"/>
                  </a:cubicBezTo>
                  <a:cubicBezTo>
                    <a:pt x="59416" y="52203"/>
                    <a:pt x="55328" y="55439"/>
                    <a:pt x="52613" y="59637"/>
                  </a:cubicBezTo>
                  <a:cubicBezTo>
                    <a:pt x="51287" y="61674"/>
                    <a:pt x="50276" y="63947"/>
                    <a:pt x="49692" y="66378"/>
                  </a:cubicBezTo>
                  <a:cubicBezTo>
                    <a:pt x="49424" y="67420"/>
                    <a:pt x="48508" y="68146"/>
                    <a:pt x="47419" y="68146"/>
                  </a:cubicBezTo>
                  <a:lnTo>
                    <a:pt x="47372" y="68146"/>
                  </a:lnTo>
                  <a:cubicBezTo>
                    <a:pt x="45888" y="68146"/>
                    <a:pt x="44594" y="67136"/>
                    <a:pt x="44183" y="65699"/>
                  </a:cubicBezTo>
                  <a:cubicBezTo>
                    <a:pt x="42699" y="60474"/>
                    <a:pt x="39385" y="56007"/>
                    <a:pt x="34965" y="53071"/>
                  </a:cubicBezTo>
                  <a:cubicBezTo>
                    <a:pt x="32108" y="51177"/>
                    <a:pt x="28793" y="49914"/>
                    <a:pt x="25209" y="49488"/>
                  </a:cubicBezTo>
                  <a:cubicBezTo>
                    <a:pt x="24325" y="49377"/>
                    <a:pt x="23426" y="49330"/>
                    <a:pt x="22510" y="49330"/>
                  </a:cubicBezTo>
                  <a:cubicBezTo>
                    <a:pt x="10087" y="49330"/>
                    <a:pt x="0" y="59416"/>
                    <a:pt x="0" y="71840"/>
                  </a:cubicBezTo>
                  <a:cubicBezTo>
                    <a:pt x="0" y="84278"/>
                    <a:pt x="10087" y="94349"/>
                    <a:pt x="22510" y="94349"/>
                  </a:cubicBezTo>
                  <a:cubicBezTo>
                    <a:pt x="23520" y="94349"/>
                    <a:pt x="24531" y="94302"/>
                    <a:pt x="25493" y="94160"/>
                  </a:cubicBezTo>
                  <a:cubicBezTo>
                    <a:pt x="28966" y="93702"/>
                    <a:pt x="32186" y="92455"/>
                    <a:pt x="34965" y="90608"/>
                  </a:cubicBezTo>
                  <a:cubicBezTo>
                    <a:pt x="38943" y="87956"/>
                    <a:pt x="42052" y="84073"/>
                    <a:pt x="43710" y="79495"/>
                  </a:cubicBezTo>
                  <a:cubicBezTo>
                    <a:pt x="44278" y="77933"/>
                    <a:pt x="45714" y="76875"/>
                    <a:pt x="47372" y="76875"/>
                  </a:cubicBezTo>
                  <a:lnTo>
                    <a:pt x="47435" y="76875"/>
                  </a:lnTo>
                  <a:cubicBezTo>
                    <a:pt x="48682" y="76875"/>
                    <a:pt x="49740" y="77680"/>
                    <a:pt x="50134" y="78864"/>
                  </a:cubicBezTo>
                  <a:cubicBezTo>
                    <a:pt x="53102" y="87862"/>
                    <a:pt x="61563" y="94349"/>
                    <a:pt x="71555" y="94349"/>
                  </a:cubicBezTo>
                  <a:lnTo>
                    <a:pt x="71871" y="94349"/>
                  </a:lnTo>
                  <a:cubicBezTo>
                    <a:pt x="84294" y="94349"/>
                    <a:pt x="94380" y="84278"/>
                    <a:pt x="94380" y="71840"/>
                  </a:cubicBezTo>
                  <a:cubicBezTo>
                    <a:pt x="94317" y="61279"/>
                    <a:pt x="87056" y="52408"/>
                    <a:pt x="77253" y="49977"/>
                  </a:cubicBezTo>
                  <a:cubicBezTo>
                    <a:pt x="76070" y="49677"/>
                    <a:pt x="75201" y="48635"/>
                    <a:pt x="75201" y="47420"/>
                  </a:cubicBezTo>
                  <a:lnTo>
                    <a:pt x="75201" y="47388"/>
                  </a:lnTo>
                  <a:lnTo>
                    <a:pt x="75201" y="47372"/>
                  </a:lnTo>
                  <a:cubicBezTo>
                    <a:pt x="75201" y="45888"/>
                    <a:pt x="76212" y="44594"/>
                    <a:pt x="77648" y="44168"/>
                  </a:cubicBezTo>
                  <a:cubicBezTo>
                    <a:pt x="82873" y="42700"/>
                    <a:pt x="87340" y="39385"/>
                    <a:pt x="90276" y="34965"/>
                  </a:cubicBezTo>
                  <a:cubicBezTo>
                    <a:pt x="92171" y="32092"/>
                    <a:pt x="93433" y="28777"/>
                    <a:pt x="93860" y="25210"/>
                  </a:cubicBezTo>
                  <a:cubicBezTo>
                    <a:pt x="93970" y="24326"/>
                    <a:pt x="94017" y="23410"/>
                    <a:pt x="94017" y="22510"/>
                  </a:cubicBezTo>
                  <a:cubicBezTo>
                    <a:pt x="94017" y="10072"/>
                    <a:pt x="83946" y="1"/>
                    <a:pt x="7150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2"/>
            <p:cNvSpPr/>
            <p:nvPr/>
          </p:nvSpPr>
          <p:spPr>
            <a:xfrm>
              <a:off x="-17609" y="1321257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2"/>
            <p:cNvSpPr/>
            <p:nvPr/>
          </p:nvSpPr>
          <p:spPr>
            <a:xfrm rot="5400000">
              <a:off x="-693767" y="3302025"/>
              <a:ext cx="2562643" cy="1222642"/>
            </a:xfrm>
            <a:custGeom>
              <a:rect b="b" l="l" r="r" t="t"/>
              <a:pathLst>
                <a:path extrusionOk="0" h="45037" w="94397">
                  <a:moveTo>
                    <a:pt x="22558" y="1"/>
                  </a:moveTo>
                  <a:cubicBezTo>
                    <a:pt x="10103" y="1"/>
                    <a:pt x="0" y="10103"/>
                    <a:pt x="0" y="22526"/>
                  </a:cubicBezTo>
                  <a:cubicBezTo>
                    <a:pt x="0" y="34965"/>
                    <a:pt x="10087" y="45036"/>
                    <a:pt x="22510" y="45036"/>
                  </a:cubicBezTo>
                  <a:cubicBezTo>
                    <a:pt x="23521" y="45036"/>
                    <a:pt x="24531" y="44989"/>
                    <a:pt x="25494" y="44847"/>
                  </a:cubicBezTo>
                  <a:cubicBezTo>
                    <a:pt x="28966" y="44389"/>
                    <a:pt x="32187" y="43142"/>
                    <a:pt x="34965" y="41295"/>
                  </a:cubicBezTo>
                  <a:cubicBezTo>
                    <a:pt x="38959" y="38643"/>
                    <a:pt x="42052" y="34760"/>
                    <a:pt x="43710" y="30182"/>
                  </a:cubicBezTo>
                  <a:cubicBezTo>
                    <a:pt x="44262" y="28619"/>
                    <a:pt x="45730" y="27562"/>
                    <a:pt x="47388" y="27562"/>
                  </a:cubicBezTo>
                  <a:lnTo>
                    <a:pt x="47483" y="27562"/>
                  </a:lnTo>
                  <a:cubicBezTo>
                    <a:pt x="48888" y="27562"/>
                    <a:pt x="50103" y="28493"/>
                    <a:pt x="50561" y="29803"/>
                  </a:cubicBezTo>
                  <a:cubicBezTo>
                    <a:pt x="52218" y="34618"/>
                    <a:pt x="55454" y="38706"/>
                    <a:pt x="59653" y="41437"/>
                  </a:cubicBezTo>
                  <a:cubicBezTo>
                    <a:pt x="62510" y="43268"/>
                    <a:pt x="65809" y="44484"/>
                    <a:pt x="69361" y="44878"/>
                  </a:cubicBezTo>
                  <a:cubicBezTo>
                    <a:pt x="70198" y="44989"/>
                    <a:pt x="71034" y="45020"/>
                    <a:pt x="71887" y="45020"/>
                  </a:cubicBezTo>
                  <a:cubicBezTo>
                    <a:pt x="84325" y="45020"/>
                    <a:pt x="94396" y="34933"/>
                    <a:pt x="94396" y="22510"/>
                  </a:cubicBezTo>
                  <a:cubicBezTo>
                    <a:pt x="94396" y="10072"/>
                    <a:pt x="84325" y="1"/>
                    <a:pt x="71887" y="1"/>
                  </a:cubicBezTo>
                  <a:cubicBezTo>
                    <a:pt x="71113" y="1"/>
                    <a:pt x="70387" y="32"/>
                    <a:pt x="69645" y="111"/>
                  </a:cubicBezTo>
                  <a:cubicBezTo>
                    <a:pt x="65983" y="474"/>
                    <a:pt x="62589" y="1705"/>
                    <a:pt x="59669" y="3600"/>
                  </a:cubicBezTo>
                  <a:cubicBezTo>
                    <a:pt x="55044" y="6599"/>
                    <a:pt x="51587" y="11256"/>
                    <a:pt x="50119" y="16733"/>
                  </a:cubicBezTo>
                  <a:cubicBezTo>
                    <a:pt x="49787" y="17948"/>
                    <a:pt x="48730" y="18817"/>
                    <a:pt x="47467" y="18817"/>
                  </a:cubicBezTo>
                  <a:lnTo>
                    <a:pt x="47419" y="18817"/>
                  </a:lnTo>
                  <a:cubicBezTo>
                    <a:pt x="45920" y="18817"/>
                    <a:pt x="44641" y="17806"/>
                    <a:pt x="44231" y="16370"/>
                  </a:cubicBezTo>
                  <a:cubicBezTo>
                    <a:pt x="42747" y="11145"/>
                    <a:pt x="39432" y="6678"/>
                    <a:pt x="35012" y="3742"/>
                  </a:cubicBezTo>
                  <a:cubicBezTo>
                    <a:pt x="32155" y="1847"/>
                    <a:pt x="28840" y="585"/>
                    <a:pt x="25257" y="143"/>
                  </a:cubicBezTo>
                  <a:cubicBezTo>
                    <a:pt x="24373" y="48"/>
                    <a:pt x="23473" y="1"/>
                    <a:pt x="22558" y="1"/>
                  </a:cubicBezTo>
                  <a:close/>
                </a:path>
              </a:pathLst>
            </a:custGeom>
            <a:solidFill>
              <a:srgbClr val="BDE0D9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2"/>
            <p:cNvSpPr/>
            <p:nvPr/>
          </p:nvSpPr>
          <p:spPr>
            <a:xfrm rot="5546733">
              <a:off x="3918294" y="46694"/>
              <a:ext cx="2531718" cy="2538119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2"/>
            <p:cNvSpPr/>
            <p:nvPr/>
          </p:nvSpPr>
          <p:spPr>
            <a:xfrm>
              <a:off x="2603938" y="31644"/>
              <a:ext cx="1216200" cy="1216200"/>
            </a:xfrm>
            <a:prstGeom prst="ellipse">
              <a:avLst/>
            </a:prstGeom>
            <a:solidFill>
              <a:srgbClr val="FAFA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2"/>
            <p:cNvSpPr/>
            <p:nvPr/>
          </p:nvSpPr>
          <p:spPr>
            <a:xfrm>
              <a:off x="-1752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2"/>
            <p:cNvSpPr/>
            <p:nvPr/>
          </p:nvSpPr>
          <p:spPr>
            <a:xfrm>
              <a:off x="1293214" y="3978331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2"/>
            <p:cNvSpPr/>
            <p:nvPr/>
          </p:nvSpPr>
          <p:spPr>
            <a:xfrm>
              <a:off x="2603938" y="3978256"/>
              <a:ext cx="1216200" cy="1216200"/>
            </a:xfrm>
            <a:prstGeom prst="ellipse">
              <a:avLst/>
            </a:prstGeom>
            <a:solidFill>
              <a:srgbClr val="B8E5FA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2"/>
            <p:cNvSpPr/>
            <p:nvPr/>
          </p:nvSpPr>
          <p:spPr>
            <a:xfrm>
              <a:off x="5225354" y="1374262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2"/>
            <p:cNvSpPr/>
            <p:nvPr/>
          </p:nvSpPr>
          <p:spPr>
            <a:xfrm>
              <a:off x="3935651" y="31644"/>
              <a:ext cx="1216200" cy="1216200"/>
            </a:xfrm>
            <a:prstGeom prst="ellipse">
              <a:avLst/>
            </a:pr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2"/>
            <p:cNvSpPr/>
            <p:nvPr/>
          </p:nvSpPr>
          <p:spPr>
            <a:xfrm>
              <a:off x="3935651" y="2634565"/>
              <a:ext cx="1216200" cy="1216200"/>
            </a:xfrm>
            <a:prstGeom prst="ellipse">
              <a:avLst/>
            </a:prstGeom>
            <a:solidFill>
              <a:srgbClr val="FEFADD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2"/>
            <p:cNvSpPr/>
            <p:nvPr/>
          </p:nvSpPr>
          <p:spPr>
            <a:xfrm>
              <a:off x="2603774" y="2644223"/>
              <a:ext cx="2531755" cy="2538157"/>
            </a:xfrm>
            <a:custGeom>
              <a:rect b="b" l="l" r="r" t="t"/>
              <a:pathLst>
                <a:path extrusionOk="0" h="93971" w="93734">
                  <a:moveTo>
                    <a:pt x="22037" y="0"/>
                  </a:moveTo>
                  <a:cubicBezTo>
                    <a:pt x="16417" y="142"/>
                    <a:pt x="11287" y="2352"/>
                    <a:pt x="7388" y="5888"/>
                  </a:cubicBezTo>
                  <a:cubicBezTo>
                    <a:pt x="7135" y="6125"/>
                    <a:pt x="6883" y="6362"/>
                    <a:pt x="6646" y="6583"/>
                  </a:cubicBezTo>
                  <a:cubicBezTo>
                    <a:pt x="6472" y="6772"/>
                    <a:pt x="6283" y="6946"/>
                    <a:pt x="6125" y="7120"/>
                  </a:cubicBezTo>
                  <a:cubicBezTo>
                    <a:pt x="2431" y="11050"/>
                    <a:pt x="158" y="16322"/>
                    <a:pt x="0" y="22100"/>
                  </a:cubicBezTo>
                  <a:lnTo>
                    <a:pt x="0" y="22700"/>
                  </a:lnTo>
                  <a:cubicBezTo>
                    <a:pt x="0" y="35217"/>
                    <a:pt x="10087" y="45383"/>
                    <a:pt x="22542" y="45383"/>
                  </a:cubicBezTo>
                  <a:lnTo>
                    <a:pt x="22779" y="45383"/>
                  </a:lnTo>
                  <a:cubicBezTo>
                    <a:pt x="23473" y="45383"/>
                    <a:pt x="24168" y="45352"/>
                    <a:pt x="24846" y="45257"/>
                  </a:cubicBezTo>
                  <a:cubicBezTo>
                    <a:pt x="25746" y="45162"/>
                    <a:pt x="26614" y="45036"/>
                    <a:pt x="27451" y="44831"/>
                  </a:cubicBezTo>
                  <a:cubicBezTo>
                    <a:pt x="28600" y="44578"/>
                    <a:pt x="29772" y="44433"/>
                    <a:pt x="30943" y="44433"/>
                  </a:cubicBezTo>
                  <a:cubicBezTo>
                    <a:pt x="31671" y="44433"/>
                    <a:pt x="32398" y="44489"/>
                    <a:pt x="33118" y="44610"/>
                  </a:cubicBezTo>
                  <a:cubicBezTo>
                    <a:pt x="35975" y="45099"/>
                    <a:pt x="38722" y="46393"/>
                    <a:pt x="41374" y="48382"/>
                  </a:cubicBezTo>
                  <a:cubicBezTo>
                    <a:pt x="47119" y="52723"/>
                    <a:pt x="49614" y="59890"/>
                    <a:pt x="48651" y="67088"/>
                  </a:cubicBezTo>
                  <a:cubicBezTo>
                    <a:pt x="48603" y="67341"/>
                    <a:pt x="48603" y="67625"/>
                    <a:pt x="48603" y="67877"/>
                  </a:cubicBezTo>
                  <a:cubicBezTo>
                    <a:pt x="48635" y="68051"/>
                    <a:pt x="48603" y="68256"/>
                    <a:pt x="48587" y="68430"/>
                  </a:cubicBezTo>
                  <a:cubicBezTo>
                    <a:pt x="48477" y="69377"/>
                    <a:pt x="48414" y="70340"/>
                    <a:pt x="48414" y="71318"/>
                  </a:cubicBezTo>
                  <a:cubicBezTo>
                    <a:pt x="48414" y="75438"/>
                    <a:pt x="49519" y="79306"/>
                    <a:pt x="51445" y="82636"/>
                  </a:cubicBezTo>
                  <a:cubicBezTo>
                    <a:pt x="54712" y="88303"/>
                    <a:pt x="60332" y="92408"/>
                    <a:pt x="67040" y="93607"/>
                  </a:cubicBezTo>
                  <a:lnTo>
                    <a:pt x="67072" y="93607"/>
                  </a:lnTo>
                  <a:cubicBezTo>
                    <a:pt x="67214" y="93623"/>
                    <a:pt x="67372" y="93670"/>
                    <a:pt x="67514" y="93686"/>
                  </a:cubicBezTo>
                  <a:cubicBezTo>
                    <a:pt x="67577" y="93686"/>
                    <a:pt x="67609" y="93702"/>
                    <a:pt x="67672" y="93702"/>
                  </a:cubicBezTo>
                  <a:cubicBezTo>
                    <a:pt x="67782" y="93734"/>
                    <a:pt x="67893" y="93749"/>
                    <a:pt x="68003" y="93749"/>
                  </a:cubicBezTo>
                  <a:cubicBezTo>
                    <a:pt x="68098" y="93765"/>
                    <a:pt x="68177" y="93765"/>
                    <a:pt x="68288" y="93781"/>
                  </a:cubicBezTo>
                  <a:cubicBezTo>
                    <a:pt x="68366" y="93812"/>
                    <a:pt x="68445" y="93812"/>
                    <a:pt x="68524" y="93812"/>
                  </a:cubicBezTo>
                  <a:cubicBezTo>
                    <a:pt x="68635" y="93828"/>
                    <a:pt x="68761" y="93828"/>
                    <a:pt x="68872" y="93844"/>
                  </a:cubicBezTo>
                  <a:cubicBezTo>
                    <a:pt x="68935" y="93844"/>
                    <a:pt x="68998" y="93860"/>
                    <a:pt x="69077" y="93860"/>
                  </a:cubicBezTo>
                  <a:cubicBezTo>
                    <a:pt x="69203" y="93891"/>
                    <a:pt x="69329" y="93891"/>
                    <a:pt x="69471" y="93907"/>
                  </a:cubicBezTo>
                  <a:cubicBezTo>
                    <a:pt x="69519" y="93907"/>
                    <a:pt x="69582" y="93907"/>
                    <a:pt x="69645" y="93923"/>
                  </a:cubicBezTo>
                  <a:cubicBezTo>
                    <a:pt x="69787" y="93923"/>
                    <a:pt x="69913" y="93939"/>
                    <a:pt x="70055" y="93939"/>
                  </a:cubicBezTo>
                  <a:lnTo>
                    <a:pt x="70229" y="93939"/>
                  </a:lnTo>
                  <a:cubicBezTo>
                    <a:pt x="70371" y="93939"/>
                    <a:pt x="70497" y="93939"/>
                    <a:pt x="70624" y="93970"/>
                  </a:cubicBezTo>
                  <a:lnTo>
                    <a:pt x="71729" y="93970"/>
                  </a:lnTo>
                  <a:cubicBezTo>
                    <a:pt x="71871" y="93970"/>
                    <a:pt x="72013" y="93970"/>
                    <a:pt x="72155" y="93939"/>
                  </a:cubicBezTo>
                  <a:lnTo>
                    <a:pt x="72281" y="93939"/>
                  </a:lnTo>
                  <a:cubicBezTo>
                    <a:pt x="72439" y="93939"/>
                    <a:pt x="72628" y="93923"/>
                    <a:pt x="72786" y="93907"/>
                  </a:cubicBezTo>
                  <a:lnTo>
                    <a:pt x="72834" y="93907"/>
                  </a:lnTo>
                  <a:cubicBezTo>
                    <a:pt x="84515" y="93023"/>
                    <a:pt x="93733" y="83252"/>
                    <a:pt x="93733" y="71334"/>
                  </a:cubicBezTo>
                  <a:lnTo>
                    <a:pt x="93733" y="71334"/>
                  </a:lnTo>
                  <a:cubicBezTo>
                    <a:pt x="93724" y="71353"/>
                    <a:pt x="93720" y="71360"/>
                    <a:pt x="93719" y="71360"/>
                  </a:cubicBezTo>
                  <a:cubicBezTo>
                    <a:pt x="93718" y="71360"/>
                    <a:pt x="93718" y="71357"/>
                    <a:pt x="93718" y="71350"/>
                  </a:cubicBezTo>
                  <a:cubicBezTo>
                    <a:pt x="93718" y="58848"/>
                    <a:pt x="83583" y="48698"/>
                    <a:pt x="71066" y="48698"/>
                  </a:cubicBezTo>
                  <a:cubicBezTo>
                    <a:pt x="69519" y="48698"/>
                    <a:pt x="68003" y="48856"/>
                    <a:pt x="66567" y="49156"/>
                  </a:cubicBezTo>
                  <a:cubicBezTo>
                    <a:pt x="65346" y="49398"/>
                    <a:pt x="64102" y="49540"/>
                    <a:pt x="62857" y="49540"/>
                  </a:cubicBezTo>
                  <a:cubicBezTo>
                    <a:pt x="62315" y="49540"/>
                    <a:pt x="61772" y="49513"/>
                    <a:pt x="61232" y="49456"/>
                  </a:cubicBezTo>
                  <a:cubicBezTo>
                    <a:pt x="57964" y="49093"/>
                    <a:pt x="54807" y="47909"/>
                    <a:pt x="52060" y="45841"/>
                  </a:cubicBezTo>
                  <a:cubicBezTo>
                    <a:pt x="46425" y="41579"/>
                    <a:pt x="43915" y="34586"/>
                    <a:pt x="44720" y="27483"/>
                  </a:cubicBezTo>
                  <a:cubicBezTo>
                    <a:pt x="44799" y="26741"/>
                    <a:pt x="44941" y="25983"/>
                    <a:pt x="45099" y="25225"/>
                  </a:cubicBezTo>
                  <a:cubicBezTo>
                    <a:pt x="45194" y="24373"/>
                    <a:pt x="45257" y="23489"/>
                    <a:pt x="45257" y="22621"/>
                  </a:cubicBezTo>
                  <a:cubicBezTo>
                    <a:pt x="45257" y="10119"/>
                    <a:pt x="35123" y="0"/>
                    <a:pt x="22621" y="0"/>
                  </a:cubicBezTo>
                  <a:close/>
                </a:path>
              </a:pathLst>
            </a:custGeom>
            <a:solidFill>
              <a:srgbClr val="ED3247">
                <a:alpha val="7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b="1"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  <a:defRPr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  <a:defRPr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■"/>
              <a:defRPr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  <a:defRPr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  <a:defRPr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■"/>
              <a:defRPr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  <a:defRPr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  <a:defRPr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"/>
              <a:buChar char="■"/>
              <a:defRPr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16.jpg"/><Relationship Id="rId5" Type="http://schemas.openxmlformats.org/officeDocument/2006/relationships/image" Target="../media/image4.jpg"/><Relationship Id="rId6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1.xml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Relationship Id="rId5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38.png"/><Relationship Id="rId5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2.xml"/><Relationship Id="rId4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3"/>
          <p:cNvSpPr txBox="1"/>
          <p:nvPr>
            <p:ph idx="2" type="body"/>
          </p:nvPr>
        </p:nvSpPr>
        <p:spPr>
          <a:xfrm>
            <a:off x="3934725" y="3577750"/>
            <a:ext cx="1963800" cy="19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Josefin Sans"/>
                <a:ea typeface="Josefin Sans"/>
                <a:cs typeface="Josefin Sans"/>
                <a:sym typeface="Josefin Sans"/>
              </a:rPr>
              <a:t>Presented by:</a:t>
            </a:r>
            <a:endParaRPr b="1" sz="15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Josefin Sans SemiBold"/>
                <a:ea typeface="Josefin Sans SemiBold"/>
                <a:cs typeface="Josefin Sans SemiBold"/>
                <a:sym typeface="Josefin Sans SemiBold"/>
              </a:rPr>
              <a:t>Amira TEMMAM</a:t>
            </a:r>
            <a:endParaRPr sz="13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Josefin Sans SemiBold"/>
                <a:ea typeface="Josefin Sans SemiBold"/>
                <a:cs typeface="Josefin Sans SemiBold"/>
                <a:sym typeface="Josefin Sans SemiBold"/>
              </a:rPr>
              <a:t>Chaima AHMED GAID</a:t>
            </a:r>
            <a:endParaRPr sz="13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300">
              <a:solidFill>
                <a:srgbClr val="873124"/>
              </a:solidFill>
            </a:endParaRPr>
          </a:p>
        </p:txBody>
      </p:sp>
      <p:sp>
        <p:nvSpPr>
          <p:cNvPr id="343" name="Google Shape;343;p33"/>
          <p:cNvSpPr txBox="1"/>
          <p:nvPr>
            <p:ph idx="15" type="title"/>
          </p:nvPr>
        </p:nvSpPr>
        <p:spPr>
          <a:xfrm>
            <a:off x="3934725" y="1745238"/>
            <a:ext cx="5135100" cy="16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73124"/>
                </a:solidFill>
              </a:rPr>
              <a:t>Diabetic Retinopathy Grading Using Deep Neural Networks</a:t>
            </a:r>
            <a:endParaRPr>
              <a:solidFill>
                <a:srgbClr val="873124"/>
              </a:solidFill>
            </a:endParaRPr>
          </a:p>
        </p:txBody>
      </p:sp>
      <p:pic>
        <p:nvPicPr>
          <p:cNvPr id="344" name="Google Shape;344;p33"/>
          <p:cNvPicPr preferRelativeResize="0"/>
          <p:nvPr/>
        </p:nvPicPr>
        <p:blipFill rotWithShape="1">
          <a:blip r:embed="rId3">
            <a:alphaModFix/>
          </a:blip>
          <a:srcRect b="0" l="1497" r="0" t="0"/>
          <a:stretch/>
        </p:blipFill>
        <p:spPr>
          <a:xfrm rot="10800000">
            <a:off x="-1028501" y="-132177"/>
            <a:ext cx="4963226" cy="540785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3"/>
          <p:cNvSpPr txBox="1"/>
          <p:nvPr/>
        </p:nvSpPr>
        <p:spPr>
          <a:xfrm>
            <a:off x="3934725" y="295175"/>
            <a:ext cx="4236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 Medium"/>
                <a:ea typeface="Josefin Sans Medium"/>
                <a:cs typeface="Josefin Sans Medium"/>
                <a:sym typeface="Josefin Sans Medium"/>
              </a:rPr>
              <a:t>Institute of Electrical and Electronics Engineering</a:t>
            </a:r>
            <a:endParaRPr>
              <a:latin typeface="Josefin Sans Medium"/>
              <a:ea typeface="Josefin Sans Medium"/>
              <a:cs typeface="Josefin Sans Medium"/>
              <a:sym typeface="Josefin Sans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 Medium"/>
                <a:ea typeface="Josefin Sans Medium"/>
                <a:cs typeface="Josefin Sans Medium"/>
                <a:sym typeface="Josefin Sans Medium"/>
              </a:rPr>
              <a:t>Master’s Final Year project defense</a:t>
            </a:r>
            <a:endParaRPr>
              <a:latin typeface="Josefin Sans Medium"/>
              <a:ea typeface="Josefin Sans Medium"/>
              <a:cs typeface="Josefin Sans Medium"/>
              <a:sym typeface="Josefin Sans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osefin Sans"/>
                <a:ea typeface="Josefin Sans"/>
                <a:cs typeface="Josefin Sans"/>
                <a:sym typeface="Josefin Sans"/>
              </a:rPr>
              <a:t>Option:</a:t>
            </a:r>
            <a:r>
              <a:rPr lang="en">
                <a:latin typeface="Josefin Sans Medium"/>
                <a:ea typeface="Josefin Sans Medium"/>
                <a:cs typeface="Josefin Sans Medium"/>
                <a:sym typeface="Josefin Sans Medium"/>
              </a:rPr>
              <a:t> Computer Engineering</a:t>
            </a:r>
            <a:endParaRPr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346" name="Google Shape;346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33"/>
          <p:cNvSpPr txBox="1"/>
          <p:nvPr/>
        </p:nvSpPr>
        <p:spPr>
          <a:xfrm>
            <a:off x="6145075" y="3577750"/>
            <a:ext cx="2960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latin typeface="Josefin Sans"/>
                <a:ea typeface="Josefin Sans"/>
                <a:cs typeface="Josefin Sans"/>
                <a:sym typeface="Josefin Sans"/>
              </a:rPr>
              <a:t>Supervisor:</a:t>
            </a:r>
            <a:endParaRPr b="1" sz="15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Josefin Sans SemiBold"/>
                <a:ea typeface="Josefin Sans SemiBold"/>
                <a:cs typeface="Josefin Sans SemiBold"/>
                <a:sym typeface="Josefin Sans SemiBold"/>
              </a:rPr>
              <a:t>Prof. Abdelhamid DAAMOUCHE</a:t>
            </a:r>
            <a:endParaRPr sz="13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latin typeface="Josefin Sans"/>
                <a:ea typeface="Josefin Sans"/>
                <a:cs typeface="Josefin Sans"/>
                <a:sym typeface="Josefin Sans"/>
              </a:rPr>
              <a:t>Co-supervisor:</a:t>
            </a:r>
            <a:endParaRPr b="1" sz="15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>
                <a:latin typeface="Josefin Sans SemiBold"/>
                <a:ea typeface="Josefin Sans SemiBold"/>
                <a:cs typeface="Josefin Sans SemiBold"/>
                <a:sym typeface="Josefin Sans SemiBold"/>
              </a:rPr>
              <a:t>Dr. Abbas CHEDDAD</a:t>
            </a:r>
            <a:endParaRPr sz="1300"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/>
          <p:nvPr/>
        </p:nvSpPr>
        <p:spPr>
          <a:xfrm rot="5400000">
            <a:off x="6232758" y="783025"/>
            <a:ext cx="2562643" cy="1222642"/>
          </a:xfrm>
          <a:custGeom>
            <a:rect b="b" l="l" r="r" t="t"/>
            <a:pathLst>
              <a:path extrusionOk="0" h="45037" w="94397">
                <a:moveTo>
                  <a:pt x="22558" y="1"/>
                </a:moveTo>
                <a:cubicBezTo>
                  <a:pt x="10103" y="1"/>
                  <a:pt x="0" y="10103"/>
                  <a:pt x="0" y="22526"/>
                </a:cubicBezTo>
                <a:cubicBezTo>
                  <a:pt x="0" y="34965"/>
                  <a:pt x="10087" y="45036"/>
                  <a:pt x="22510" y="45036"/>
                </a:cubicBezTo>
                <a:cubicBezTo>
                  <a:pt x="23521" y="45036"/>
                  <a:pt x="24531" y="44989"/>
                  <a:pt x="25494" y="44847"/>
                </a:cubicBezTo>
                <a:cubicBezTo>
                  <a:pt x="28966" y="44389"/>
                  <a:pt x="32187" y="43142"/>
                  <a:pt x="34965" y="41295"/>
                </a:cubicBezTo>
                <a:cubicBezTo>
                  <a:pt x="38959" y="38643"/>
                  <a:pt x="42052" y="34760"/>
                  <a:pt x="43710" y="30182"/>
                </a:cubicBezTo>
                <a:cubicBezTo>
                  <a:pt x="44262" y="28619"/>
                  <a:pt x="45730" y="27562"/>
                  <a:pt x="47388" y="27562"/>
                </a:cubicBezTo>
                <a:lnTo>
                  <a:pt x="47483" y="27562"/>
                </a:lnTo>
                <a:cubicBezTo>
                  <a:pt x="48888" y="27562"/>
                  <a:pt x="50103" y="28493"/>
                  <a:pt x="50561" y="29803"/>
                </a:cubicBezTo>
                <a:cubicBezTo>
                  <a:pt x="52218" y="34618"/>
                  <a:pt x="55454" y="38706"/>
                  <a:pt x="59653" y="41437"/>
                </a:cubicBezTo>
                <a:cubicBezTo>
                  <a:pt x="62510" y="43268"/>
                  <a:pt x="65809" y="44484"/>
                  <a:pt x="69361" y="44878"/>
                </a:cubicBezTo>
                <a:cubicBezTo>
                  <a:pt x="70198" y="44989"/>
                  <a:pt x="71034" y="45020"/>
                  <a:pt x="71887" y="45020"/>
                </a:cubicBezTo>
                <a:cubicBezTo>
                  <a:pt x="84325" y="45020"/>
                  <a:pt x="94396" y="34933"/>
                  <a:pt x="94396" y="22510"/>
                </a:cubicBezTo>
                <a:cubicBezTo>
                  <a:pt x="94396" y="10072"/>
                  <a:pt x="84325" y="1"/>
                  <a:pt x="71887" y="1"/>
                </a:cubicBezTo>
                <a:cubicBezTo>
                  <a:pt x="71113" y="1"/>
                  <a:pt x="70387" y="32"/>
                  <a:pt x="69645" y="111"/>
                </a:cubicBezTo>
                <a:cubicBezTo>
                  <a:pt x="65983" y="474"/>
                  <a:pt x="62589" y="1705"/>
                  <a:pt x="59669" y="3600"/>
                </a:cubicBezTo>
                <a:cubicBezTo>
                  <a:pt x="55044" y="6599"/>
                  <a:pt x="51587" y="11256"/>
                  <a:pt x="50119" y="16733"/>
                </a:cubicBezTo>
                <a:cubicBezTo>
                  <a:pt x="49787" y="17948"/>
                  <a:pt x="48730" y="18817"/>
                  <a:pt x="47467" y="18817"/>
                </a:cubicBezTo>
                <a:lnTo>
                  <a:pt x="47419" y="18817"/>
                </a:lnTo>
                <a:cubicBezTo>
                  <a:pt x="45920" y="18817"/>
                  <a:pt x="44641" y="17806"/>
                  <a:pt x="44231" y="16370"/>
                </a:cubicBezTo>
                <a:cubicBezTo>
                  <a:pt x="42747" y="11145"/>
                  <a:pt x="39432" y="6678"/>
                  <a:pt x="35012" y="3742"/>
                </a:cubicBezTo>
                <a:cubicBezTo>
                  <a:pt x="32155" y="1847"/>
                  <a:pt x="28840" y="585"/>
                  <a:pt x="25257" y="143"/>
                </a:cubicBezTo>
                <a:cubicBezTo>
                  <a:pt x="24373" y="48"/>
                  <a:pt x="23473" y="1"/>
                  <a:pt x="22558" y="1"/>
                </a:cubicBezTo>
                <a:close/>
              </a:path>
            </a:pathLst>
          </a:custGeom>
          <a:solidFill>
            <a:srgbClr val="A7D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4944513" y="1447228"/>
            <a:ext cx="1216200" cy="1216200"/>
          </a:xfrm>
          <a:prstGeom prst="ellipse">
            <a:avLst/>
          </a:prstGeom>
          <a:solidFill>
            <a:srgbClr val="FCDF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4"/>
          <p:cNvSpPr/>
          <p:nvPr/>
        </p:nvSpPr>
        <p:spPr>
          <a:xfrm>
            <a:off x="2983232" y="1447231"/>
            <a:ext cx="1216200" cy="1216200"/>
          </a:xfrm>
          <a:prstGeom prst="ellipse">
            <a:avLst/>
          </a:prstGeom>
          <a:solidFill>
            <a:srgbClr val="B55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4"/>
          <p:cNvSpPr txBox="1"/>
          <p:nvPr>
            <p:ph idx="15" type="title"/>
          </p:nvPr>
        </p:nvSpPr>
        <p:spPr>
          <a:xfrm>
            <a:off x="1200200" y="548650"/>
            <a:ext cx="6743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356" name="Google Shape;356;p34"/>
          <p:cNvSpPr txBox="1"/>
          <p:nvPr>
            <p:ph idx="1" type="subTitle"/>
          </p:nvPr>
        </p:nvSpPr>
        <p:spPr>
          <a:xfrm>
            <a:off x="765773" y="2657100"/>
            <a:ext cx="1728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357" name="Google Shape;357;p34"/>
          <p:cNvSpPr txBox="1"/>
          <p:nvPr>
            <p:ph idx="2" type="body"/>
          </p:nvPr>
        </p:nvSpPr>
        <p:spPr>
          <a:xfrm>
            <a:off x="765773" y="3211168"/>
            <a:ext cx="17283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Josefin Sans Medium"/>
                <a:ea typeface="Josefin Sans Medium"/>
                <a:cs typeface="Josefin Sans Medium"/>
                <a:sym typeface="Josefin Sans Medium"/>
              </a:rPr>
              <a:t>Diabetic Retinopathy </a:t>
            </a:r>
            <a:endParaRPr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358" name="Google Shape;358;p34"/>
          <p:cNvSpPr txBox="1"/>
          <p:nvPr>
            <p:ph idx="3" type="subTitle"/>
          </p:nvPr>
        </p:nvSpPr>
        <p:spPr>
          <a:xfrm>
            <a:off x="2727175" y="2657100"/>
            <a:ext cx="1728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359" name="Google Shape;359;p34"/>
          <p:cNvSpPr txBox="1"/>
          <p:nvPr>
            <p:ph idx="4" type="body"/>
          </p:nvPr>
        </p:nvSpPr>
        <p:spPr>
          <a:xfrm>
            <a:off x="2727182" y="3211168"/>
            <a:ext cx="17283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Josefin Sans Medium"/>
                <a:ea typeface="Josefin Sans Medium"/>
                <a:cs typeface="Josefin Sans Medium"/>
                <a:sym typeface="Josefin Sans Medium"/>
              </a:rPr>
              <a:t>Deep Learning &amp; Transfer Learning</a:t>
            </a:r>
            <a:endParaRPr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360" name="Google Shape;360;p34"/>
          <p:cNvSpPr txBox="1"/>
          <p:nvPr>
            <p:ph idx="5" type="subTitle"/>
          </p:nvPr>
        </p:nvSpPr>
        <p:spPr>
          <a:xfrm>
            <a:off x="4688463" y="2657100"/>
            <a:ext cx="1728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361" name="Google Shape;361;p34"/>
          <p:cNvSpPr txBox="1"/>
          <p:nvPr>
            <p:ph idx="6" type="body"/>
          </p:nvPr>
        </p:nvSpPr>
        <p:spPr>
          <a:xfrm>
            <a:off x="4688463" y="3211168"/>
            <a:ext cx="17283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Josefin Sans Medium"/>
                <a:ea typeface="Josefin Sans Medium"/>
                <a:cs typeface="Josefin Sans Medium"/>
                <a:sym typeface="Josefin Sans Medium"/>
              </a:rPr>
              <a:t>Techniques Used</a:t>
            </a:r>
            <a:endParaRPr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362" name="Google Shape;362;p34"/>
          <p:cNvSpPr txBox="1"/>
          <p:nvPr>
            <p:ph idx="7" type="subTitle"/>
          </p:nvPr>
        </p:nvSpPr>
        <p:spPr>
          <a:xfrm>
            <a:off x="6649775" y="2657100"/>
            <a:ext cx="1986300" cy="914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</a:t>
            </a:r>
            <a:endParaRPr/>
          </a:p>
        </p:txBody>
      </p:sp>
      <p:sp>
        <p:nvSpPr>
          <p:cNvPr id="363" name="Google Shape;363;p34"/>
          <p:cNvSpPr txBox="1"/>
          <p:nvPr>
            <p:ph type="title"/>
          </p:nvPr>
        </p:nvSpPr>
        <p:spPr>
          <a:xfrm>
            <a:off x="765773" y="1664425"/>
            <a:ext cx="1728300" cy="7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64" name="Google Shape;364;p34"/>
          <p:cNvSpPr txBox="1"/>
          <p:nvPr>
            <p:ph idx="8" type="body"/>
          </p:nvPr>
        </p:nvSpPr>
        <p:spPr>
          <a:xfrm>
            <a:off x="6649774" y="3211168"/>
            <a:ext cx="17283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Josefin Sans Medium"/>
                <a:ea typeface="Josefin Sans Medium"/>
                <a:cs typeface="Josefin Sans Medium"/>
                <a:sym typeface="Josefin Sans Medium"/>
              </a:rPr>
              <a:t>Results &amp; Discussion</a:t>
            </a:r>
            <a:endParaRPr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365" name="Google Shape;365;p34"/>
          <p:cNvSpPr txBox="1"/>
          <p:nvPr>
            <p:ph idx="9" type="title"/>
          </p:nvPr>
        </p:nvSpPr>
        <p:spPr>
          <a:xfrm>
            <a:off x="2727175" y="1664425"/>
            <a:ext cx="1728300" cy="7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6" name="Google Shape;366;p34"/>
          <p:cNvSpPr txBox="1"/>
          <p:nvPr>
            <p:ph idx="13" type="title"/>
          </p:nvPr>
        </p:nvSpPr>
        <p:spPr>
          <a:xfrm>
            <a:off x="4688463" y="1664425"/>
            <a:ext cx="1728300" cy="7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67" name="Google Shape;367;p34"/>
          <p:cNvSpPr txBox="1"/>
          <p:nvPr>
            <p:ph idx="14" type="title"/>
          </p:nvPr>
        </p:nvSpPr>
        <p:spPr>
          <a:xfrm>
            <a:off x="6649774" y="1664425"/>
            <a:ext cx="1728300" cy="7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68" name="Google Shape;368;p34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/>
          <p:nvPr/>
        </p:nvSpPr>
        <p:spPr>
          <a:xfrm rot="10800000">
            <a:off x="-2" y="1"/>
            <a:ext cx="2549231" cy="2548394"/>
          </a:xfrm>
          <a:custGeom>
            <a:rect b="b" l="l" r="r" t="t"/>
            <a:pathLst>
              <a:path extrusionOk="0" h="94350" w="94381">
                <a:moveTo>
                  <a:pt x="71508" y="1"/>
                </a:moveTo>
                <a:cubicBezTo>
                  <a:pt x="59069" y="1"/>
                  <a:pt x="48998" y="10072"/>
                  <a:pt x="48998" y="22510"/>
                </a:cubicBezTo>
                <a:cubicBezTo>
                  <a:pt x="48998" y="23521"/>
                  <a:pt x="49045" y="24515"/>
                  <a:pt x="49187" y="25494"/>
                </a:cubicBezTo>
                <a:cubicBezTo>
                  <a:pt x="49645" y="28967"/>
                  <a:pt x="50892" y="32171"/>
                  <a:pt x="52739" y="34965"/>
                </a:cubicBezTo>
                <a:cubicBezTo>
                  <a:pt x="55391" y="38943"/>
                  <a:pt x="59274" y="42037"/>
                  <a:pt x="63852" y="43694"/>
                </a:cubicBezTo>
                <a:cubicBezTo>
                  <a:pt x="65414" y="44278"/>
                  <a:pt x="66472" y="45715"/>
                  <a:pt x="66472" y="47372"/>
                </a:cubicBezTo>
                <a:lnTo>
                  <a:pt x="66472" y="47404"/>
                </a:lnTo>
                <a:lnTo>
                  <a:pt x="66472" y="47467"/>
                </a:lnTo>
                <a:cubicBezTo>
                  <a:pt x="66472" y="48872"/>
                  <a:pt x="65557" y="50087"/>
                  <a:pt x="64231" y="50545"/>
                </a:cubicBezTo>
                <a:cubicBezTo>
                  <a:pt x="59416" y="52203"/>
                  <a:pt x="55328" y="55439"/>
                  <a:pt x="52613" y="59637"/>
                </a:cubicBezTo>
                <a:cubicBezTo>
                  <a:pt x="51287" y="61674"/>
                  <a:pt x="50276" y="63947"/>
                  <a:pt x="49692" y="66378"/>
                </a:cubicBezTo>
                <a:cubicBezTo>
                  <a:pt x="49424" y="67420"/>
                  <a:pt x="48508" y="68146"/>
                  <a:pt x="47419" y="68146"/>
                </a:cubicBezTo>
                <a:lnTo>
                  <a:pt x="47372" y="68146"/>
                </a:lnTo>
                <a:cubicBezTo>
                  <a:pt x="45888" y="68146"/>
                  <a:pt x="44594" y="67136"/>
                  <a:pt x="44183" y="65699"/>
                </a:cubicBezTo>
                <a:cubicBezTo>
                  <a:pt x="42699" y="60474"/>
                  <a:pt x="39385" y="56007"/>
                  <a:pt x="34965" y="53071"/>
                </a:cubicBezTo>
                <a:cubicBezTo>
                  <a:pt x="32108" y="51177"/>
                  <a:pt x="28793" y="49914"/>
                  <a:pt x="25209" y="49488"/>
                </a:cubicBezTo>
                <a:cubicBezTo>
                  <a:pt x="24325" y="49377"/>
                  <a:pt x="23426" y="49330"/>
                  <a:pt x="22510" y="49330"/>
                </a:cubicBezTo>
                <a:cubicBezTo>
                  <a:pt x="10087" y="49330"/>
                  <a:pt x="0" y="59416"/>
                  <a:pt x="0" y="71840"/>
                </a:cubicBezTo>
                <a:cubicBezTo>
                  <a:pt x="0" y="84278"/>
                  <a:pt x="10087" y="94349"/>
                  <a:pt x="22510" y="94349"/>
                </a:cubicBezTo>
                <a:cubicBezTo>
                  <a:pt x="23520" y="94349"/>
                  <a:pt x="24531" y="94302"/>
                  <a:pt x="25493" y="94160"/>
                </a:cubicBezTo>
                <a:cubicBezTo>
                  <a:pt x="28966" y="93702"/>
                  <a:pt x="32186" y="92455"/>
                  <a:pt x="34965" y="90608"/>
                </a:cubicBezTo>
                <a:cubicBezTo>
                  <a:pt x="38943" y="87956"/>
                  <a:pt x="42052" y="84073"/>
                  <a:pt x="43710" y="79495"/>
                </a:cubicBezTo>
                <a:cubicBezTo>
                  <a:pt x="44278" y="77933"/>
                  <a:pt x="45714" y="76875"/>
                  <a:pt x="47372" y="76875"/>
                </a:cubicBezTo>
                <a:lnTo>
                  <a:pt x="47435" y="76875"/>
                </a:lnTo>
                <a:cubicBezTo>
                  <a:pt x="48682" y="76875"/>
                  <a:pt x="49740" y="77680"/>
                  <a:pt x="50134" y="78864"/>
                </a:cubicBezTo>
                <a:cubicBezTo>
                  <a:pt x="53102" y="87862"/>
                  <a:pt x="61563" y="94349"/>
                  <a:pt x="71555" y="94349"/>
                </a:cubicBezTo>
                <a:lnTo>
                  <a:pt x="71871" y="94349"/>
                </a:lnTo>
                <a:cubicBezTo>
                  <a:pt x="84294" y="94349"/>
                  <a:pt x="94380" y="84278"/>
                  <a:pt x="94380" y="71840"/>
                </a:cubicBezTo>
                <a:cubicBezTo>
                  <a:pt x="94317" y="61279"/>
                  <a:pt x="87056" y="52408"/>
                  <a:pt x="77253" y="49977"/>
                </a:cubicBezTo>
                <a:cubicBezTo>
                  <a:pt x="76070" y="49677"/>
                  <a:pt x="75201" y="48635"/>
                  <a:pt x="75201" y="47420"/>
                </a:cubicBezTo>
                <a:lnTo>
                  <a:pt x="75201" y="47388"/>
                </a:lnTo>
                <a:lnTo>
                  <a:pt x="75201" y="47372"/>
                </a:lnTo>
                <a:cubicBezTo>
                  <a:pt x="75201" y="45888"/>
                  <a:pt x="76212" y="44594"/>
                  <a:pt x="77648" y="44168"/>
                </a:cubicBezTo>
                <a:cubicBezTo>
                  <a:pt x="82873" y="42700"/>
                  <a:pt x="87340" y="39385"/>
                  <a:pt x="90276" y="34965"/>
                </a:cubicBezTo>
                <a:cubicBezTo>
                  <a:pt x="92171" y="32092"/>
                  <a:pt x="93433" y="28777"/>
                  <a:pt x="93860" y="25210"/>
                </a:cubicBezTo>
                <a:cubicBezTo>
                  <a:pt x="93970" y="24326"/>
                  <a:pt x="94017" y="23410"/>
                  <a:pt x="94017" y="22510"/>
                </a:cubicBezTo>
                <a:cubicBezTo>
                  <a:pt x="94017" y="10072"/>
                  <a:pt x="83946" y="1"/>
                  <a:pt x="71508" y="1"/>
                </a:cubicBezTo>
                <a:close/>
              </a:path>
            </a:pathLst>
          </a:custGeom>
          <a:solidFill>
            <a:srgbClr val="FCDFB4"/>
          </a:solidFill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5"/>
          <p:cNvSpPr/>
          <p:nvPr/>
        </p:nvSpPr>
        <p:spPr>
          <a:xfrm>
            <a:off x="6670963" y="2624593"/>
            <a:ext cx="2549231" cy="2548394"/>
          </a:xfrm>
          <a:custGeom>
            <a:rect b="b" l="l" r="r" t="t"/>
            <a:pathLst>
              <a:path extrusionOk="0" h="94350" w="94381">
                <a:moveTo>
                  <a:pt x="71508" y="1"/>
                </a:moveTo>
                <a:cubicBezTo>
                  <a:pt x="59069" y="1"/>
                  <a:pt x="48998" y="10072"/>
                  <a:pt x="48998" y="22510"/>
                </a:cubicBezTo>
                <a:cubicBezTo>
                  <a:pt x="48998" y="23521"/>
                  <a:pt x="49045" y="24515"/>
                  <a:pt x="49187" y="25494"/>
                </a:cubicBezTo>
                <a:cubicBezTo>
                  <a:pt x="49645" y="28967"/>
                  <a:pt x="50892" y="32171"/>
                  <a:pt x="52739" y="34965"/>
                </a:cubicBezTo>
                <a:cubicBezTo>
                  <a:pt x="55391" y="38943"/>
                  <a:pt x="59274" y="42037"/>
                  <a:pt x="63852" y="43694"/>
                </a:cubicBezTo>
                <a:cubicBezTo>
                  <a:pt x="65414" y="44278"/>
                  <a:pt x="66472" y="45715"/>
                  <a:pt x="66472" y="47372"/>
                </a:cubicBezTo>
                <a:lnTo>
                  <a:pt x="66472" y="47404"/>
                </a:lnTo>
                <a:lnTo>
                  <a:pt x="66472" y="47467"/>
                </a:lnTo>
                <a:cubicBezTo>
                  <a:pt x="66472" y="48872"/>
                  <a:pt x="65557" y="50087"/>
                  <a:pt x="64231" y="50545"/>
                </a:cubicBezTo>
                <a:cubicBezTo>
                  <a:pt x="59416" y="52203"/>
                  <a:pt x="55328" y="55439"/>
                  <a:pt x="52613" y="59637"/>
                </a:cubicBezTo>
                <a:cubicBezTo>
                  <a:pt x="51287" y="61674"/>
                  <a:pt x="50276" y="63947"/>
                  <a:pt x="49692" y="66378"/>
                </a:cubicBezTo>
                <a:cubicBezTo>
                  <a:pt x="49424" y="67420"/>
                  <a:pt x="48508" y="68146"/>
                  <a:pt x="47419" y="68146"/>
                </a:cubicBezTo>
                <a:lnTo>
                  <a:pt x="47372" y="68146"/>
                </a:lnTo>
                <a:cubicBezTo>
                  <a:pt x="45888" y="68146"/>
                  <a:pt x="44594" y="67136"/>
                  <a:pt x="44183" y="65699"/>
                </a:cubicBezTo>
                <a:cubicBezTo>
                  <a:pt x="42699" y="60474"/>
                  <a:pt x="39385" y="56007"/>
                  <a:pt x="34965" y="53071"/>
                </a:cubicBezTo>
                <a:cubicBezTo>
                  <a:pt x="32108" y="51177"/>
                  <a:pt x="28793" y="49914"/>
                  <a:pt x="25209" y="49488"/>
                </a:cubicBezTo>
                <a:cubicBezTo>
                  <a:pt x="24325" y="49377"/>
                  <a:pt x="23426" y="49330"/>
                  <a:pt x="22510" y="49330"/>
                </a:cubicBezTo>
                <a:cubicBezTo>
                  <a:pt x="10087" y="49330"/>
                  <a:pt x="0" y="59416"/>
                  <a:pt x="0" y="71840"/>
                </a:cubicBezTo>
                <a:cubicBezTo>
                  <a:pt x="0" y="84278"/>
                  <a:pt x="10087" y="94349"/>
                  <a:pt x="22510" y="94349"/>
                </a:cubicBezTo>
                <a:cubicBezTo>
                  <a:pt x="23520" y="94349"/>
                  <a:pt x="24531" y="94302"/>
                  <a:pt x="25493" y="94160"/>
                </a:cubicBezTo>
                <a:cubicBezTo>
                  <a:pt x="28966" y="93702"/>
                  <a:pt x="32186" y="92455"/>
                  <a:pt x="34965" y="90608"/>
                </a:cubicBezTo>
                <a:cubicBezTo>
                  <a:pt x="38943" y="87956"/>
                  <a:pt x="42052" y="84073"/>
                  <a:pt x="43710" y="79495"/>
                </a:cubicBezTo>
                <a:cubicBezTo>
                  <a:pt x="44278" y="77933"/>
                  <a:pt x="45714" y="76875"/>
                  <a:pt x="47372" y="76875"/>
                </a:cubicBezTo>
                <a:lnTo>
                  <a:pt x="47435" y="76875"/>
                </a:lnTo>
                <a:cubicBezTo>
                  <a:pt x="48682" y="76875"/>
                  <a:pt x="49740" y="77680"/>
                  <a:pt x="50134" y="78864"/>
                </a:cubicBezTo>
                <a:cubicBezTo>
                  <a:pt x="53102" y="87862"/>
                  <a:pt x="61563" y="94349"/>
                  <a:pt x="71555" y="94349"/>
                </a:cubicBezTo>
                <a:lnTo>
                  <a:pt x="71871" y="94349"/>
                </a:lnTo>
                <a:cubicBezTo>
                  <a:pt x="84294" y="94349"/>
                  <a:pt x="94380" y="84278"/>
                  <a:pt x="94380" y="71840"/>
                </a:cubicBezTo>
                <a:cubicBezTo>
                  <a:pt x="94317" y="61279"/>
                  <a:pt x="87056" y="52408"/>
                  <a:pt x="77253" y="49977"/>
                </a:cubicBezTo>
                <a:cubicBezTo>
                  <a:pt x="76070" y="49677"/>
                  <a:pt x="75201" y="48635"/>
                  <a:pt x="75201" y="47420"/>
                </a:cubicBezTo>
                <a:lnTo>
                  <a:pt x="75201" y="47388"/>
                </a:lnTo>
                <a:lnTo>
                  <a:pt x="75201" y="47372"/>
                </a:lnTo>
                <a:cubicBezTo>
                  <a:pt x="75201" y="45888"/>
                  <a:pt x="76212" y="44594"/>
                  <a:pt x="77648" y="44168"/>
                </a:cubicBezTo>
                <a:cubicBezTo>
                  <a:pt x="82873" y="42700"/>
                  <a:pt x="87340" y="39385"/>
                  <a:pt x="90276" y="34965"/>
                </a:cubicBezTo>
                <a:cubicBezTo>
                  <a:pt x="92171" y="32092"/>
                  <a:pt x="93433" y="28777"/>
                  <a:pt x="93860" y="25210"/>
                </a:cubicBezTo>
                <a:cubicBezTo>
                  <a:pt x="93970" y="24326"/>
                  <a:pt x="94017" y="23410"/>
                  <a:pt x="94017" y="22510"/>
                </a:cubicBezTo>
                <a:cubicBezTo>
                  <a:pt x="94017" y="10072"/>
                  <a:pt x="83946" y="1"/>
                  <a:pt x="71508" y="1"/>
                </a:cubicBezTo>
                <a:close/>
              </a:path>
            </a:pathLst>
          </a:custGeom>
          <a:solidFill>
            <a:srgbClr val="BDE0D9">
              <a:alpha val="70980"/>
            </a:srgbClr>
          </a:solidFill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5"/>
          <p:cNvSpPr/>
          <p:nvPr/>
        </p:nvSpPr>
        <p:spPr>
          <a:xfrm>
            <a:off x="1522050" y="3814800"/>
            <a:ext cx="6066300" cy="257100"/>
          </a:xfrm>
          <a:prstGeom prst="rect">
            <a:avLst/>
          </a:prstGeom>
          <a:solidFill>
            <a:srgbClr val="CFE8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5"/>
          <p:cNvSpPr txBox="1"/>
          <p:nvPr>
            <p:ph idx="15" type="title"/>
          </p:nvPr>
        </p:nvSpPr>
        <p:spPr>
          <a:xfrm>
            <a:off x="1522050" y="1023900"/>
            <a:ext cx="6066300" cy="2790900"/>
          </a:xfrm>
          <a:prstGeom prst="rect">
            <a:avLst/>
          </a:prstGeom>
          <a:solidFill>
            <a:srgbClr val="A54534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FCDFB4"/>
              </a:solidFill>
            </a:endParaRPr>
          </a:p>
        </p:txBody>
      </p:sp>
      <p:sp>
        <p:nvSpPr>
          <p:cNvPr id="377" name="Google Shape;377;p35"/>
          <p:cNvSpPr txBox="1"/>
          <p:nvPr/>
        </p:nvSpPr>
        <p:spPr>
          <a:xfrm>
            <a:off x="3030525" y="2685000"/>
            <a:ext cx="305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CDFB4"/>
                </a:solidFill>
                <a:latin typeface="Josefin Sans"/>
                <a:ea typeface="Josefin Sans"/>
                <a:cs typeface="Josefin Sans"/>
                <a:sym typeface="Josefin Sans"/>
              </a:rPr>
              <a:t>People</a:t>
            </a:r>
            <a:r>
              <a:rPr b="1" lang="en" sz="2000">
                <a:solidFill>
                  <a:srgbClr val="FCDFB4"/>
                </a:solidFill>
                <a:latin typeface="Josefin Sans"/>
                <a:ea typeface="Josefin Sans"/>
                <a:cs typeface="Josefin Sans"/>
                <a:sym typeface="Josefin Sans"/>
              </a:rPr>
              <a:t> with </a:t>
            </a:r>
            <a:r>
              <a:rPr b="1" lang="en" sz="2000">
                <a:solidFill>
                  <a:srgbClr val="FCDFB4"/>
                </a:solidFill>
                <a:latin typeface="Josefin Sans"/>
                <a:ea typeface="Josefin Sans"/>
                <a:cs typeface="Josefin Sans"/>
                <a:sym typeface="Josefin Sans"/>
              </a:rPr>
              <a:t>diabetes</a:t>
            </a:r>
            <a:endParaRPr b="1" sz="2000">
              <a:solidFill>
                <a:srgbClr val="FCDFB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78" name="Google Shape;378;p35"/>
          <p:cNvSpPr txBox="1"/>
          <p:nvPr/>
        </p:nvSpPr>
        <p:spPr>
          <a:xfrm>
            <a:off x="2724750" y="1778850"/>
            <a:ext cx="3770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5200">
                <a:solidFill>
                  <a:srgbClr val="FCDFB4"/>
                </a:solidFill>
                <a:latin typeface="Josefin Sans"/>
                <a:ea typeface="Josefin Sans"/>
                <a:cs typeface="Josefin Sans"/>
                <a:sym typeface="Josefin Sans"/>
              </a:rPr>
              <a:t>400 </a:t>
            </a:r>
            <a:r>
              <a:rPr b="1" lang="en" sz="5200">
                <a:solidFill>
                  <a:srgbClr val="FCDFB4"/>
                </a:solidFill>
                <a:latin typeface="Josefin Sans"/>
                <a:ea typeface="Josefin Sans"/>
                <a:cs typeface="Josefin Sans"/>
                <a:sym typeface="Josefin Sans"/>
              </a:rPr>
              <a:t>Million</a:t>
            </a:r>
            <a:endParaRPr sz="5200">
              <a:solidFill>
                <a:srgbClr val="FCDFB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9" name="Google Shape;37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 txBox="1"/>
          <p:nvPr>
            <p:ph idx="1" type="body"/>
          </p:nvPr>
        </p:nvSpPr>
        <p:spPr>
          <a:xfrm>
            <a:off x="1200200" y="1578425"/>
            <a:ext cx="5805900" cy="26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Char char="●"/>
            </a:pPr>
            <a:r>
              <a:rPr lang="en" sz="1600">
                <a:latin typeface="Josefin Sans"/>
                <a:ea typeface="Josefin Sans"/>
                <a:cs typeface="Josefin Sans"/>
                <a:sym typeface="Josefin Sans"/>
              </a:rPr>
              <a:t>Diabetes Mellitus is a global health concern with millions affected and projected to reach 700 million cases by 2045.</a:t>
            </a:r>
            <a:endParaRPr sz="16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600"/>
              <a:buFont typeface="Josefin Sans"/>
              <a:buChar char="●"/>
            </a:pPr>
            <a:r>
              <a:rPr lang="en" sz="1600">
                <a:latin typeface="Josefin Sans"/>
                <a:ea typeface="Josefin Sans"/>
                <a:cs typeface="Josefin Sans"/>
                <a:sym typeface="Josefin Sans"/>
              </a:rPr>
              <a:t>Diabetic Retinopathy (DR) is a common complication of diabetes that can lead to blindness, but early detection and treatment can reduce the risk.</a:t>
            </a:r>
            <a:endParaRPr sz="120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85" name="Google Shape;385;p36"/>
          <p:cNvSpPr txBox="1"/>
          <p:nvPr>
            <p:ph type="title"/>
          </p:nvPr>
        </p:nvSpPr>
        <p:spPr>
          <a:xfrm>
            <a:off x="2531700" y="781250"/>
            <a:ext cx="40806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54534"/>
                </a:solidFill>
              </a:rPr>
              <a:t>Diabetic Retinopathy</a:t>
            </a:r>
            <a:endParaRPr>
              <a:solidFill>
                <a:srgbClr val="A54534"/>
              </a:solidFill>
            </a:endParaRPr>
          </a:p>
        </p:txBody>
      </p:sp>
      <p:sp>
        <p:nvSpPr>
          <p:cNvPr id="386" name="Google Shape;386;p36"/>
          <p:cNvSpPr txBox="1"/>
          <p:nvPr/>
        </p:nvSpPr>
        <p:spPr>
          <a:xfrm>
            <a:off x="0" y="3298450"/>
            <a:ext cx="6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7" name="Google Shape;387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/>
          <p:nvPr>
            <p:ph idx="15" type="title"/>
          </p:nvPr>
        </p:nvSpPr>
        <p:spPr>
          <a:xfrm>
            <a:off x="1425150" y="234750"/>
            <a:ext cx="6293700" cy="47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22D1F"/>
                </a:solidFill>
              </a:rPr>
              <a:t>Stages of Diabetic Retinopathy</a:t>
            </a:r>
            <a:endParaRPr>
              <a:solidFill>
                <a:srgbClr val="822D1F"/>
              </a:solidFill>
            </a:endParaRPr>
          </a:p>
        </p:txBody>
      </p:sp>
      <p:grpSp>
        <p:nvGrpSpPr>
          <p:cNvPr id="393" name="Google Shape;393;p37"/>
          <p:cNvGrpSpPr/>
          <p:nvPr/>
        </p:nvGrpSpPr>
        <p:grpSpPr>
          <a:xfrm flipH="1" rot="10800000">
            <a:off x="625252" y="986219"/>
            <a:ext cx="6104115" cy="3120209"/>
            <a:chOff x="5772903" y="2920021"/>
            <a:chExt cx="2523300" cy="2180592"/>
          </a:xfrm>
        </p:grpSpPr>
        <p:sp>
          <p:nvSpPr>
            <p:cNvPr id="394" name="Google Shape;394;p37"/>
            <p:cNvSpPr/>
            <p:nvPr/>
          </p:nvSpPr>
          <p:spPr>
            <a:xfrm rot="10800000">
              <a:off x="5772903" y="2920021"/>
              <a:ext cx="2523300" cy="469200"/>
            </a:xfrm>
            <a:prstGeom prst="rect">
              <a:avLst/>
            </a:prstGeom>
            <a:noFill/>
            <a:ln cap="flat" cmpd="sng" w="28575">
              <a:solidFill>
                <a:srgbClr val="8520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85200C"/>
                </a:solidFill>
                <a:latin typeface="Josefin Sans Medium"/>
                <a:ea typeface="Josefin Sans Medium"/>
                <a:cs typeface="Josefin Sans Medium"/>
                <a:sym typeface="Josefi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85200C"/>
                  </a:solidFill>
                  <a:latin typeface="Josefin Sans Medium"/>
                  <a:ea typeface="Josefin Sans Medium"/>
                  <a:cs typeface="Josefin Sans Medium"/>
                  <a:sym typeface="Josefin Sans Medium"/>
                </a:rPr>
                <a:t>Severe</a:t>
              </a:r>
              <a:endParaRPr sz="1500">
                <a:solidFill>
                  <a:srgbClr val="85200C"/>
                </a:solidFill>
                <a:latin typeface="Josefin Sans Medium"/>
                <a:ea typeface="Josefin Sans Medium"/>
                <a:cs typeface="Josefin Sans Medium"/>
                <a:sym typeface="Josefin Sans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hlink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Josefin Sans Medium"/>
                  <a:ea typeface="Josefin Sans Medium"/>
                  <a:cs typeface="Josefin Sans Medium"/>
                  <a:sym typeface="Josefin Sans Medium"/>
                </a:rPr>
                <a:t>Sharp decline in retinal blood flow and the development of new blood vessels</a:t>
              </a:r>
              <a:endParaRPr sz="12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endParaRPr>
            </a:p>
          </p:txBody>
        </p:sp>
        <p:sp>
          <p:nvSpPr>
            <p:cNvPr id="395" name="Google Shape;395;p37"/>
            <p:cNvSpPr/>
            <p:nvPr/>
          </p:nvSpPr>
          <p:spPr>
            <a:xfrm rot="10800000">
              <a:off x="5772904" y="3493099"/>
              <a:ext cx="2049000" cy="469200"/>
            </a:xfrm>
            <a:prstGeom prst="rect">
              <a:avLst/>
            </a:prstGeom>
            <a:noFill/>
            <a:ln cap="flat" cmpd="sng" w="28575">
              <a:solidFill>
                <a:srgbClr val="A61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rgbClr val="A61C00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A61C00"/>
                  </a:solidFill>
                  <a:latin typeface="Josefin Sans Medium"/>
                  <a:ea typeface="Josefin Sans Medium"/>
                  <a:cs typeface="Josefin Sans Medium"/>
                  <a:sym typeface="Josefin Sans Medium"/>
                </a:rPr>
                <a:t>Moderate</a:t>
              </a:r>
              <a:endParaRPr sz="1500">
                <a:solidFill>
                  <a:srgbClr val="A61C00"/>
                </a:solidFill>
                <a:latin typeface="Josefin Sans Medium"/>
                <a:ea typeface="Josefin Sans Medium"/>
                <a:cs typeface="Josefin Sans Medium"/>
                <a:sym typeface="Josefin Sans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hlink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Josefin Sans Medium"/>
                  <a:ea typeface="Josefin Sans Medium"/>
                  <a:cs typeface="Josefin Sans Medium"/>
                  <a:sym typeface="Josefin Sans Medium"/>
                </a:rPr>
                <a:t>Retinal blood vessel blockages</a:t>
              </a:r>
              <a:endParaRPr sz="10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endParaRPr>
            </a:p>
          </p:txBody>
        </p:sp>
        <p:sp>
          <p:nvSpPr>
            <p:cNvPr id="396" name="Google Shape;396;p37"/>
            <p:cNvSpPr/>
            <p:nvPr/>
          </p:nvSpPr>
          <p:spPr>
            <a:xfrm rot="10800000">
              <a:off x="5772905" y="4062266"/>
              <a:ext cx="1470600" cy="469200"/>
            </a:xfrm>
            <a:prstGeom prst="rect">
              <a:avLst/>
            </a:prstGeom>
            <a:noFill/>
            <a:ln cap="flat" cmpd="sng" w="28575">
              <a:solidFill>
                <a:srgbClr val="CC41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CC4125"/>
                  </a:solidFill>
                  <a:latin typeface="Josefin Sans Medium"/>
                  <a:ea typeface="Josefin Sans Medium"/>
                  <a:cs typeface="Josefin Sans Medium"/>
                  <a:sym typeface="Josefin Sans Medium"/>
                </a:rPr>
                <a:t>Mild</a:t>
              </a:r>
              <a:r>
                <a:rPr lang="en" sz="1300">
                  <a:solidFill>
                    <a:srgbClr val="CC4125"/>
                  </a:solidFill>
                  <a:latin typeface="Josefin Sans Medium"/>
                  <a:ea typeface="Josefin Sans Medium"/>
                  <a:cs typeface="Josefin Sans Medium"/>
                  <a:sym typeface="Josefin Sans Medium"/>
                </a:rPr>
                <a:t> </a:t>
              </a:r>
              <a:endParaRPr sz="1300">
                <a:solidFill>
                  <a:srgbClr val="CC4125"/>
                </a:solidFill>
                <a:latin typeface="Josefin Sans Medium"/>
                <a:ea typeface="Josefin Sans Medium"/>
                <a:cs typeface="Josefin Sans Medium"/>
                <a:sym typeface="Josefi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Josefin Sans Medium"/>
                  <a:ea typeface="Josefin Sans Medium"/>
                  <a:cs typeface="Josefin Sans Medium"/>
                  <a:sym typeface="Josefin Sans Medium"/>
                </a:rPr>
                <a:t>Minute swellings in the retinal blood vessels</a:t>
              </a:r>
              <a:endParaRPr sz="12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endParaRPr>
            </a:p>
          </p:txBody>
        </p:sp>
        <p:sp>
          <p:nvSpPr>
            <p:cNvPr id="397" name="Google Shape;397;p37"/>
            <p:cNvSpPr/>
            <p:nvPr/>
          </p:nvSpPr>
          <p:spPr>
            <a:xfrm rot="10800000">
              <a:off x="5772908" y="4631413"/>
              <a:ext cx="810600" cy="469200"/>
            </a:xfrm>
            <a:prstGeom prst="rect">
              <a:avLst/>
            </a:prstGeom>
            <a:noFill/>
            <a:ln cap="flat" cmpd="sng" w="28575">
              <a:solidFill>
                <a:srgbClr val="DD7E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DD7E6B"/>
                  </a:solidFill>
                  <a:latin typeface="Josefin Sans Medium"/>
                  <a:ea typeface="Josefin Sans Medium"/>
                  <a:cs typeface="Josefin Sans Medium"/>
                  <a:sym typeface="Josefin Sans Medium"/>
                </a:rPr>
                <a:t>No DR</a:t>
              </a:r>
              <a:endParaRPr sz="1500">
                <a:solidFill>
                  <a:srgbClr val="DD7E6B"/>
                </a:solidFill>
                <a:latin typeface="Josefin Sans Medium"/>
                <a:ea typeface="Josefin Sans Medium"/>
                <a:cs typeface="Josefin Sans Medium"/>
                <a:sym typeface="Josefi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Josefin Sans Medium"/>
                  <a:ea typeface="Josefin Sans Medium"/>
                  <a:cs typeface="Josefin Sans Medium"/>
                  <a:sym typeface="Josefin Sans Medium"/>
                </a:rPr>
                <a:t>Healthy eye</a:t>
              </a:r>
              <a:endParaRPr sz="12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endParaRPr>
            </a:p>
          </p:txBody>
        </p:sp>
      </p:grpSp>
      <p:sp>
        <p:nvSpPr>
          <p:cNvPr id="398" name="Google Shape;398;p37"/>
          <p:cNvSpPr/>
          <p:nvPr/>
        </p:nvSpPr>
        <p:spPr>
          <a:xfrm flipH="1">
            <a:off x="625138" y="4268800"/>
            <a:ext cx="6983700" cy="671700"/>
          </a:xfrm>
          <a:prstGeom prst="rect">
            <a:avLst/>
          </a:prstGeom>
          <a:noFill/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B0F00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B0F00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Proliferate DR</a:t>
            </a:r>
            <a:endParaRPr sz="1600">
              <a:solidFill>
                <a:srgbClr val="5B0F00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Growth of new, flimsy blood vessels that are prone to fluid leakage in the retina.</a:t>
            </a:r>
            <a:endParaRPr sz="1600">
              <a:solidFill>
                <a:schemeClr val="dk1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pic>
        <p:nvPicPr>
          <p:cNvPr id="399" name="Google Shape;39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293436" y="796475"/>
            <a:ext cx="931500" cy="941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866549" y="1561925"/>
            <a:ext cx="1110489" cy="10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287662" y="2381275"/>
            <a:ext cx="1144274" cy="10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431936" y="3165450"/>
            <a:ext cx="996802" cy="10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7408362" y="4005512"/>
            <a:ext cx="1110500" cy="119826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38"/>
          <p:cNvSpPr txBox="1"/>
          <p:nvPr/>
        </p:nvSpPr>
        <p:spPr>
          <a:xfrm>
            <a:off x="-166375" y="2065700"/>
            <a:ext cx="826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11" name="Google Shape;411;p38"/>
          <p:cNvSpPr txBox="1"/>
          <p:nvPr/>
        </p:nvSpPr>
        <p:spPr>
          <a:xfrm>
            <a:off x="95550" y="1255775"/>
            <a:ext cx="5310000" cy="3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Char char="●"/>
            </a:pPr>
            <a:r>
              <a:rPr lang="en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Digital fundus images are used for screening and assessing DR, but challenges exist in terms of affordability and accurate diagnosis.</a:t>
            </a:r>
            <a:endParaRPr sz="16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Char char="●"/>
            </a:pPr>
            <a:r>
              <a:rPr lang="en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Distinct characteristics of each stage of diabetic retinopathy pose challenges for accurate diagnoses by physicians.</a:t>
            </a:r>
            <a:endParaRPr sz="16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600"/>
              <a:buFont typeface="Josefin Sans"/>
              <a:buChar char="●"/>
            </a:pPr>
            <a:r>
              <a:rPr lang="en"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Highly skilled clinicians may struggle to accurately assess the stages of diabetic retinopathy through manual evaluation.</a:t>
            </a:r>
            <a:endParaRPr sz="16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12" name="Google Shape;412;p38"/>
          <p:cNvSpPr txBox="1"/>
          <p:nvPr/>
        </p:nvSpPr>
        <p:spPr>
          <a:xfrm>
            <a:off x="891150" y="341075"/>
            <a:ext cx="736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822D1F"/>
                </a:solidFill>
                <a:latin typeface="Josefin Sans"/>
                <a:ea typeface="Josefin Sans"/>
                <a:cs typeface="Josefin Sans"/>
                <a:sym typeface="Josefin Sans"/>
              </a:rPr>
              <a:t>Diabetic Retinopathy Challenges</a:t>
            </a:r>
            <a:endParaRPr b="1" sz="3000">
              <a:solidFill>
                <a:srgbClr val="822D1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413" name="Google Shape;41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525" y="1399000"/>
            <a:ext cx="2738250" cy="34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2200" y="-62325"/>
            <a:ext cx="9488400" cy="5268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0"/>
          <p:cNvSpPr txBox="1"/>
          <p:nvPr>
            <p:ph type="title"/>
          </p:nvPr>
        </p:nvSpPr>
        <p:spPr>
          <a:xfrm>
            <a:off x="3723450" y="467950"/>
            <a:ext cx="16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54534"/>
                </a:solidFill>
              </a:rPr>
              <a:t>Solution</a:t>
            </a:r>
            <a:endParaRPr>
              <a:solidFill>
                <a:srgbClr val="A54534"/>
              </a:solidFill>
            </a:endParaRPr>
          </a:p>
        </p:txBody>
      </p:sp>
      <p:sp>
        <p:nvSpPr>
          <p:cNvPr id="425" name="Google Shape;425;p40"/>
          <p:cNvSpPr txBox="1"/>
          <p:nvPr>
            <p:ph idx="1" type="body"/>
          </p:nvPr>
        </p:nvSpPr>
        <p:spPr>
          <a:xfrm>
            <a:off x="396625" y="1120625"/>
            <a:ext cx="4907400" cy="3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Char char="●"/>
            </a:pPr>
            <a:r>
              <a:rPr lang="en" sz="1600">
                <a:latin typeface="Josefin Sans"/>
                <a:ea typeface="Josefin Sans"/>
                <a:cs typeface="Josefin Sans"/>
                <a:sym typeface="Josefin Sans"/>
              </a:rPr>
              <a:t>Leveraging Artificial Intelligence (AI) and Deep Learning (DL) for the automation of DR detection and classification.</a:t>
            </a:r>
            <a:endParaRPr sz="16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Char char="●"/>
            </a:pPr>
            <a:r>
              <a:rPr lang="en" sz="1600">
                <a:latin typeface="Josefin Sans"/>
                <a:ea typeface="Josefin Sans"/>
                <a:cs typeface="Josefin Sans"/>
                <a:sym typeface="Josefin Sans"/>
              </a:rPr>
              <a:t>Convolutional Neural Networks (CNNs) have shown promise in automating the analysis of retinal fundus images for DR detection</a:t>
            </a:r>
            <a:endParaRPr sz="16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426" name="Google Shape;426;p40"/>
          <p:cNvPicPr preferRelativeResize="0"/>
          <p:nvPr/>
        </p:nvPicPr>
        <p:blipFill rotWithShape="1">
          <a:blip r:embed="rId3">
            <a:alphaModFix/>
          </a:blip>
          <a:srcRect b="7895" l="9165" r="7507" t="8105"/>
          <a:stretch/>
        </p:blipFill>
        <p:spPr>
          <a:xfrm>
            <a:off x="5597450" y="1441800"/>
            <a:ext cx="3469501" cy="3473101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"/>
          <p:cNvSpPr/>
          <p:nvPr/>
        </p:nvSpPr>
        <p:spPr>
          <a:xfrm>
            <a:off x="2736000" y="1179750"/>
            <a:ext cx="3672000" cy="3724200"/>
          </a:xfrm>
          <a:prstGeom prst="ellipse">
            <a:avLst/>
          </a:prstGeom>
          <a:solidFill>
            <a:srgbClr val="FCDFB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1"/>
          <p:cNvSpPr/>
          <p:nvPr/>
        </p:nvSpPr>
        <p:spPr>
          <a:xfrm>
            <a:off x="3157200" y="2108250"/>
            <a:ext cx="2829600" cy="2795700"/>
          </a:xfrm>
          <a:prstGeom prst="ellipse">
            <a:avLst/>
          </a:prstGeom>
          <a:solidFill>
            <a:srgbClr val="A7D0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1"/>
          <p:cNvSpPr/>
          <p:nvPr/>
        </p:nvSpPr>
        <p:spPr>
          <a:xfrm>
            <a:off x="3392375" y="2872550"/>
            <a:ext cx="2091300" cy="2031300"/>
          </a:xfrm>
          <a:prstGeom prst="ellipse">
            <a:avLst/>
          </a:prstGeom>
          <a:solidFill>
            <a:srgbClr val="B557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1"/>
          <p:cNvSpPr txBox="1"/>
          <p:nvPr/>
        </p:nvSpPr>
        <p:spPr>
          <a:xfrm>
            <a:off x="2176050" y="194325"/>
            <a:ext cx="479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A54534"/>
                </a:solidFill>
                <a:latin typeface="Josefin Sans"/>
                <a:ea typeface="Josefin Sans"/>
                <a:cs typeface="Josefin Sans"/>
                <a:sym typeface="Josefin Sans"/>
              </a:rPr>
              <a:t>Classification</a:t>
            </a:r>
            <a:r>
              <a:rPr b="1" lang="en" sz="3000">
                <a:solidFill>
                  <a:srgbClr val="A54534"/>
                </a:solidFill>
                <a:latin typeface="Josefin Sans"/>
                <a:ea typeface="Josefin Sans"/>
                <a:cs typeface="Josefin Sans"/>
                <a:sym typeface="Josefin Sans"/>
              </a:rPr>
              <a:t> Algorithms</a:t>
            </a:r>
            <a:endParaRPr b="1" sz="3000">
              <a:solidFill>
                <a:srgbClr val="A5453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36" name="Google Shape;436;p41"/>
          <p:cNvSpPr txBox="1"/>
          <p:nvPr/>
        </p:nvSpPr>
        <p:spPr>
          <a:xfrm>
            <a:off x="3682775" y="3680450"/>
            <a:ext cx="151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Deep learning</a:t>
            </a:r>
            <a:endParaRPr sz="1500">
              <a:solidFill>
                <a:schemeClr val="lt1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437" name="Google Shape;437;p41"/>
          <p:cNvSpPr txBox="1"/>
          <p:nvPr/>
        </p:nvSpPr>
        <p:spPr>
          <a:xfrm>
            <a:off x="3602550" y="1501450"/>
            <a:ext cx="209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4534"/>
                </a:solidFill>
                <a:latin typeface="Josefin Sans"/>
                <a:ea typeface="Josefin Sans"/>
                <a:cs typeface="Josefin Sans"/>
                <a:sym typeface="Josefin Sans"/>
              </a:rPr>
              <a:t>Artificial Intelligence</a:t>
            </a:r>
            <a:endParaRPr b="1" sz="1500">
              <a:solidFill>
                <a:srgbClr val="A5453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38" name="Google Shape;438;p41"/>
          <p:cNvSpPr txBox="1"/>
          <p:nvPr/>
        </p:nvSpPr>
        <p:spPr>
          <a:xfrm>
            <a:off x="3667050" y="2364000"/>
            <a:ext cx="1809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Machine </a:t>
            </a:r>
            <a:r>
              <a:rPr b="1" lang="en" sz="1500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learning</a:t>
            </a:r>
            <a:endParaRPr b="1" sz="1500"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439" name="Google Shape;439;p41"/>
          <p:cNvCxnSpPr>
            <a:stCxn id="437" idx="1"/>
          </p:cNvCxnSpPr>
          <p:nvPr/>
        </p:nvCxnSpPr>
        <p:spPr>
          <a:xfrm rot="10800000">
            <a:off x="2068950" y="1388200"/>
            <a:ext cx="1533600" cy="3210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CDFB4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0" name="Google Shape;440;p41"/>
          <p:cNvSpPr txBox="1"/>
          <p:nvPr/>
        </p:nvSpPr>
        <p:spPr>
          <a:xfrm>
            <a:off x="128850" y="1205800"/>
            <a:ext cx="2091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 SemiBold"/>
                <a:ea typeface="Josefin Sans SemiBold"/>
                <a:cs typeface="Josefin Sans SemiBold"/>
                <a:sym typeface="Josefin Sans SemiBold"/>
              </a:rPr>
              <a:t>The ability of machines to simulate human behaviour and take decisions intelligently like a human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cxnSp>
        <p:nvCxnSpPr>
          <p:cNvPr id="441" name="Google Shape;441;p41"/>
          <p:cNvCxnSpPr>
            <a:stCxn id="438" idx="3"/>
          </p:cNvCxnSpPr>
          <p:nvPr/>
        </p:nvCxnSpPr>
        <p:spPr>
          <a:xfrm flipH="1" rot="10800000">
            <a:off x="5476950" y="2130450"/>
            <a:ext cx="1683600" cy="441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A7D0D9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2" name="Google Shape;442;p41"/>
          <p:cNvSpPr txBox="1"/>
          <p:nvPr/>
        </p:nvSpPr>
        <p:spPr>
          <a:xfrm>
            <a:off x="7160550" y="2039175"/>
            <a:ext cx="1953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 SemiBold"/>
                <a:ea typeface="Josefin Sans SemiBold"/>
                <a:cs typeface="Josefin Sans SemiBold"/>
                <a:sym typeface="Josefin Sans SemiBold"/>
              </a:rPr>
              <a:t>The ability of machines to automatically learn without being explicitly programmed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cxnSp>
        <p:nvCxnSpPr>
          <p:cNvPr id="443" name="Google Shape;443;p41"/>
          <p:cNvCxnSpPr/>
          <p:nvPr/>
        </p:nvCxnSpPr>
        <p:spPr>
          <a:xfrm flipH="1">
            <a:off x="2316575" y="3888200"/>
            <a:ext cx="1366200" cy="325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B55743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4" name="Google Shape;444;p41"/>
          <p:cNvSpPr txBox="1"/>
          <p:nvPr/>
        </p:nvSpPr>
        <p:spPr>
          <a:xfrm>
            <a:off x="128850" y="3588725"/>
            <a:ext cx="2091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 SemiBold"/>
                <a:ea typeface="Josefin Sans SemiBold"/>
                <a:cs typeface="Josefin Sans SemiBold"/>
                <a:sym typeface="Josefin Sans SemiBold"/>
              </a:rPr>
              <a:t>Creates ANNs, which are capable of learning and taking decisions intelligently with the help of algorithms</a:t>
            </a:r>
            <a:endParaRPr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sp>
        <p:nvSpPr>
          <p:cNvPr id="445" name="Google Shape;44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600" y="1424200"/>
            <a:ext cx="8566798" cy="337730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2"/>
          <p:cNvSpPr txBox="1"/>
          <p:nvPr/>
        </p:nvSpPr>
        <p:spPr>
          <a:xfrm>
            <a:off x="1485900" y="240275"/>
            <a:ext cx="617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A54534"/>
                </a:solidFill>
                <a:latin typeface="Josefin Sans"/>
                <a:ea typeface="Josefin Sans"/>
                <a:cs typeface="Josefin Sans"/>
                <a:sym typeface="Josefin Sans"/>
              </a:rPr>
              <a:t>Convolutional Neural Networks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2" name="Google Shape;45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43"/>
          <p:cNvPicPr preferRelativeResize="0"/>
          <p:nvPr/>
        </p:nvPicPr>
        <p:blipFill rotWithShape="1">
          <a:blip r:embed="rId3">
            <a:alphaModFix/>
          </a:blip>
          <a:srcRect b="0" l="14989" r="14869" t="0"/>
          <a:stretch/>
        </p:blipFill>
        <p:spPr>
          <a:xfrm>
            <a:off x="4983175" y="1250775"/>
            <a:ext cx="4160824" cy="2966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3"/>
          <p:cNvSpPr txBox="1"/>
          <p:nvPr>
            <p:ph type="title"/>
          </p:nvPr>
        </p:nvSpPr>
        <p:spPr>
          <a:xfrm>
            <a:off x="2840849" y="332775"/>
            <a:ext cx="34623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54534"/>
                </a:solidFill>
              </a:rPr>
              <a:t>Transfer Learning</a:t>
            </a:r>
            <a:endParaRPr>
              <a:solidFill>
                <a:srgbClr val="A54534"/>
              </a:solidFill>
            </a:endParaRPr>
          </a:p>
        </p:txBody>
      </p:sp>
      <p:sp>
        <p:nvSpPr>
          <p:cNvPr id="459" name="Google Shape;459;p43"/>
          <p:cNvSpPr txBox="1"/>
          <p:nvPr>
            <p:ph idx="1" type="body"/>
          </p:nvPr>
        </p:nvSpPr>
        <p:spPr>
          <a:xfrm>
            <a:off x="283525" y="1219625"/>
            <a:ext cx="4554000" cy="3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Josefin Sans"/>
              <a:buChar char="●"/>
            </a:pPr>
            <a:r>
              <a:rPr lang="en">
                <a:solidFill>
                  <a:schemeClr val="hlink"/>
                </a:solidFill>
                <a:latin typeface="Josefin Sans"/>
                <a:ea typeface="Josefin Sans"/>
                <a:cs typeface="Josefin Sans"/>
                <a:sym typeface="Josefin Sans"/>
              </a:rPr>
              <a:t>Transfer learning is a technique where knowledge learned from one task or dataset is applied to a different but related task</a:t>
            </a:r>
            <a:endParaRPr>
              <a:solidFill>
                <a:schemeClr val="hlink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Josefin Sans"/>
              <a:buChar char="●"/>
            </a:pPr>
            <a:r>
              <a:rPr lang="en">
                <a:solidFill>
                  <a:schemeClr val="hlink"/>
                </a:solidFill>
                <a:latin typeface="Josefin Sans"/>
                <a:ea typeface="Josefin Sans"/>
                <a:cs typeface="Josefin Sans"/>
                <a:sym typeface="Josefin Sans"/>
              </a:rPr>
              <a:t>It leverages pre-trained models that have learned rich representations from large-scale datasets, such as ImageNet.</a:t>
            </a:r>
            <a:endParaRPr>
              <a:solidFill>
                <a:schemeClr val="hlink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hlink"/>
              </a:buClr>
              <a:buSzPts val="1400"/>
              <a:buFont typeface="Josefin Sans"/>
              <a:buChar char="●"/>
            </a:pPr>
            <a:r>
              <a:rPr lang="en">
                <a:solidFill>
                  <a:schemeClr val="hlink"/>
                </a:solidFill>
                <a:latin typeface="Josefin Sans"/>
                <a:ea typeface="Josefin Sans"/>
                <a:cs typeface="Josefin Sans"/>
                <a:sym typeface="Josefin Sans"/>
              </a:rPr>
              <a:t>Transfer learning is beneficial for limited data, as it allows models to benefit from prior knowledge.</a:t>
            </a:r>
            <a:endParaRPr>
              <a:solidFill>
                <a:schemeClr val="hlink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60" name="Google Shape;46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66" name="Google Shape;466;p44"/>
          <p:cNvGrpSpPr/>
          <p:nvPr/>
        </p:nvGrpSpPr>
        <p:grpSpPr>
          <a:xfrm>
            <a:off x="235923" y="2673543"/>
            <a:ext cx="8672170" cy="1015603"/>
            <a:chOff x="1606190" y="2506075"/>
            <a:chExt cx="5747346" cy="673075"/>
          </a:xfrm>
        </p:grpSpPr>
        <p:sp>
          <p:nvSpPr>
            <p:cNvPr id="467" name="Google Shape;467;p44"/>
            <p:cNvSpPr/>
            <p:nvPr/>
          </p:nvSpPr>
          <p:spPr>
            <a:xfrm>
              <a:off x="1606190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B55743"/>
            </a:solidFill>
            <a:ln>
              <a:noFill/>
            </a:ln>
            <a:effectLst>
              <a:outerShdw blurRad="57150" rotWithShape="0" algn="bl" dir="15600000" dist="19050">
                <a:srgbClr val="B55743">
                  <a:alpha val="9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4"/>
            <p:cNvSpPr/>
            <p:nvPr/>
          </p:nvSpPr>
          <p:spPr>
            <a:xfrm>
              <a:off x="297348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D67E69"/>
            </a:solidFill>
            <a:ln>
              <a:noFill/>
            </a:ln>
            <a:effectLst>
              <a:outerShdw blurRad="57150" rotWithShape="0" algn="bl" dir="17520000" dist="19050">
                <a:srgbClr val="D67E69">
                  <a:alpha val="78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4"/>
            <p:cNvSpPr/>
            <p:nvPr/>
          </p:nvSpPr>
          <p:spPr>
            <a:xfrm>
              <a:off x="570961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FCE2BC"/>
            </a:solidFill>
            <a:ln>
              <a:noFill/>
            </a:ln>
            <a:effectLst>
              <a:outerShdw blurRad="57150" rotWithShape="0" algn="bl" dir="15600000" dist="19050">
                <a:srgbClr val="FCE2BC">
                  <a:alpha val="9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4"/>
            <p:cNvSpPr/>
            <p:nvPr/>
          </p:nvSpPr>
          <p:spPr>
            <a:xfrm>
              <a:off x="4342321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solidFill>
              <a:srgbClr val="F5CB9A"/>
            </a:solidFill>
            <a:ln>
              <a:noFill/>
            </a:ln>
            <a:effectLst>
              <a:outerShdw blurRad="57150" rotWithShape="0" algn="bl" dir="15000000" dist="19050">
                <a:srgbClr val="FCDFB4">
                  <a:alpha val="9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1" name="Google Shape;471;p44"/>
          <p:cNvSpPr txBox="1"/>
          <p:nvPr/>
        </p:nvSpPr>
        <p:spPr>
          <a:xfrm>
            <a:off x="3605250" y="461250"/>
            <a:ext cx="193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3038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Workflow</a:t>
            </a:r>
            <a:endParaRPr b="1" sz="3038">
              <a:solidFill>
                <a:srgbClr val="A72A1E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72" name="Google Shape;472;p44"/>
          <p:cNvSpPr txBox="1"/>
          <p:nvPr/>
        </p:nvSpPr>
        <p:spPr>
          <a:xfrm>
            <a:off x="1032200" y="2950500"/>
            <a:ext cx="114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CE2BC"/>
                </a:solidFill>
                <a:latin typeface="Josefin Sans"/>
                <a:ea typeface="Josefin Sans"/>
                <a:cs typeface="Josefin Sans"/>
                <a:sym typeface="Josefin Sans"/>
              </a:rPr>
              <a:t>DATASET</a:t>
            </a:r>
            <a:endParaRPr sz="1500">
              <a:solidFill>
                <a:srgbClr val="FCE2BC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73" name="Google Shape;473;p44"/>
          <p:cNvSpPr txBox="1"/>
          <p:nvPr/>
        </p:nvSpPr>
        <p:spPr>
          <a:xfrm>
            <a:off x="2750825" y="2950513"/>
            <a:ext cx="213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CE2BC"/>
                </a:solidFill>
                <a:latin typeface="Josefin Sans"/>
                <a:ea typeface="Josefin Sans"/>
                <a:cs typeface="Josefin Sans"/>
                <a:sym typeface="Josefin Sans"/>
              </a:rPr>
              <a:t>PREPROCESSING</a:t>
            </a:r>
            <a:endParaRPr sz="1500">
              <a:solidFill>
                <a:srgbClr val="FCE2BC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74" name="Google Shape;474;p44"/>
          <p:cNvSpPr txBox="1"/>
          <p:nvPr/>
        </p:nvSpPr>
        <p:spPr>
          <a:xfrm>
            <a:off x="4794375" y="2965813"/>
            <a:ext cx="193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B55743"/>
                </a:solidFill>
                <a:latin typeface="Josefin Sans"/>
                <a:ea typeface="Josefin Sans"/>
                <a:cs typeface="Josefin Sans"/>
                <a:sym typeface="Josefin Sans"/>
              </a:rPr>
              <a:t>AUGMENTATION</a:t>
            </a:r>
            <a:endParaRPr sz="1500">
              <a:solidFill>
                <a:srgbClr val="B55743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75" name="Google Shape;475;p44"/>
          <p:cNvSpPr txBox="1"/>
          <p:nvPr/>
        </p:nvSpPr>
        <p:spPr>
          <a:xfrm>
            <a:off x="6850000" y="2965813"/>
            <a:ext cx="193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B55743"/>
                </a:solidFill>
                <a:latin typeface="Josefin Sans"/>
                <a:ea typeface="Josefin Sans"/>
                <a:cs typeface="Josefin Sans"/>
                <a:sym typeface="Josefin Sans"/>
              </a:rPr>
              <a:t>CLASSIFICATION</a:t>
            </a:r>
            <a:endParaRPr sz="1500">
              <a:solidFill>
                <a:srgbClr val="B55743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476" name="Google Shape;47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200" y="1751901"/>
            <a:ext cx="764600" cy="76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1175" y="1751901"/>
            <a:ext cx="764600" cy="76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5650" y="1751901"/>
            <a:ext cx="764600" cy="76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0929" y="1770202"/>
            <a:ext cx="822475" cy="8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54534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45"/>
          <p:cNvSpPr txBox="1"/>
          <p:nvPr/>
        </p:nvSpPr>
        <p:spPr>
          <a:xfrm>
            <a:off x="3715050" y="436125"/>
            <a:ext cx="1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Datasets</a:t>
            </a:r>
            <a:endParaRPr sz="3000"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86" name="Google Shape;486;p45"/>
          <p:cNvSpPr/>
          <p:nvPr/>
        </p:nvSpPr>
        <p:spPr>
          <a:xfrm>
            <a:off x="434575" y="2671250"/>
            <a:ext cx="2339100" cy="1620600"/>
          </a:xfrm>
          <a:prstGeom prst="rect">
            <a:avLst/>
          </a:prstGeom>
          <a:noFill/>
          <a:ln cap="flat" cmpd="sng" w="19050">
            <a:solidFill>
              <a:srgbClr val="FC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CDFB4"/>
                </a:solidFill>
                <a:latin typeface="Josefin Sans"/>
                <a:ea typeface="Josefin Sans"/>
                <a:cs typeface="Josefin Sans"/>
                <a:sym typeface="Josefin Sans"/>
              </a:rPr>
              <a:t>35,126</a:t>
            </a:r>
            <a:endParaRPr sz="2200">
              <a:solidFill>
                <a:srgbClr val="FCDFB4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California (USA)</a:t>
            </a:r>
            <a:endParaRPr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87" name="Google Shape;487;p45"/>
          <p:cNvSpPr/>
          <p:nvPr/>
        </p:nvSpPr>
        <p:spPr>
          <a:xfrm>
            <a:off x="3402450" y="2671250"/>
            <a:ext cx="2339100" cy="1620600"/>
          </a:xfrm>
          <a:prstGeom prst="rect">
            <a:avLst/>
          </a:prstGeom>
          <a:noFill/>
          <a:ln cap="flat" cmpd="sng" w="19050">
            <a:solidFill>
              <a:srgbClr val="FC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CDFB4"/>
                </a:solidFill>
                <a:latin typeface="Josefin Sans"/>
                <a:ea typeface="Josefin Sans"/>
                <a:cs typeface="Josefin Sans"/>
                <a:sym typeface="Josefin Sans"/>
              </a:rPr>
              <a:t>3362</a:t>
            </a:r>
            <a:endParaRPr sz="2200">
              <a:solidFill>
                <a:srgbClr val="FCDFB4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India</a:t>
            </a:r>
            <a:endParaRPr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88" name="Google Shape;488;p45"/>
          <p:cNvSpPr/>
          <p:nvPr/>
        </p:nvSpPr>
        <p:spPr>
          <a:xfrm>
            <a:off x="6370325" y="2671250"/>
            <a:ext cx="2339100" cy="1620600"/>
          </a:xfrm>
          <a:prstGeom prst="rect">
            <a:avLst/>
          </a:prstGeom>
          <a:noFill/>
          <a:ln cap="flat" cmpd="sng" w="19050">
            <a:solidFill>
              <a:srgbClr val="FCDF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CDFB4"/>
                </a:solidFill>
                <a:latin typeface="Josefin Sans"/>
                <a:ea typeface="Josefin Sans"/>
                <a:cs typeface="Josefin Sans"/>
                <a:sym typeface="Josefin Sans"/>
              </a:rPr>
              <a:t>12,522</a:t>
            </a:r>
            <a:endParaRPr sz="2200">
              <a:solidFill>
                <a:srgbClr val="FCDFB4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7F7F8"/>
                </a:solidFill>
                <a:latin typeface="Josefin Sans"/>
                <a:ea typeface="Josefin Sans"/>
                <a:cs typeface="Josefin Sans"/>
                <a:sym typeface="Josefin Sans"/>
              </a:rPr>
              <a:t>China</a:t>
            </a:r>
            <a:endParaRPr>
              <a:solidFill>
                <a:srgbClr val="F7F7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89" name="Google Shape;489;p45"/>
          <p:cNvSpPr/>
          <p:nvPr/>
        </p:nvSpPr>
        <p:spPr>
          <a:xfrm>
            <a:off x="814375" y="2431675"/>
            <a:ext cx="1579500" cy="572700"/>
          </a:xfrm>
          <a:prstGeom prst="rect">
            <a:avLst/>
          </a:prstGeom>
          <a:solidFill>
            <a:srgbClr val="A54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5"/>
          <p:cNvSpPr/>
          <p:nvPr/>
        </p:nvSpPr>
        <p:spPr>
          <a:xfrm>
            <a:off x="3782250" y="2569975"/>
            <a:ext cx="1579500" cy="572700"/>
          </a:xfrm>
          <a:prstGeom prst="rect">
            <a:avLst/>
          </a:prstGeom>
          <a:solidFill>
            <a:srgbClr val="A54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5"/>
          <p:cNvSpPr/>
          <p:nvPr/>
        </p:nvSpPr>
        <p:spPr>
          <a:xfrm>
            <a:off x="6750125" y="2569975"/>
            <a:ext cx="1579500" cy="572700"/>
          </a:xfrm>
          <a:prstGeom prst="rect">
            <a:avLst/>
          </a:prstGeom>
          <a:solidFill>
            <a:srgbClr val="A54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5"/>
          <p:cNvSpPr txBox="1"/>
          <p:nvPr/>
        </p:nvSpPr>
        <p:spPr>
          <a:xfrm>
            <a:off x="918775" y="2441725"/>
            <a:ext cx="155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CDFB4"/>
                </a:solidFill>
                <a:latin typeface="Josefin Sans"/>
                <a:ea typeface="Josefin Sans"/>
                <a:cs typeface="Josefin Sans"/>
                <a:sym typeface="Josefin Sans"/>
              </a:rPr>
              <a:t>EyePACS</a:t>
            </a:r>
            <a:endParaRPr b="1" sz="2200">
              <a:solidFill>
                <a:srgbClr val="FCDFB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93" name="Google Shape;493;p45"/>
          <p:cNvSpPr txBox="1"/>
          <p:nvPr/>
        </p:nvSpPr>
        <p:spPr>
          <a:xfrm>
            <a:off x="3987750" y="2426425"/>
            <a:ext cx="116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CDFB4"/>
                </a:solidFill>
                <a:latin typeface="Josefin Sans"/>
                <a:ea typeface="Josefin Sans"/>
                <a:cs typeface="Josefin Sans"/>
                <a:sym typeface="Josefin Sans"/>
              </a:rPr>
              <a:t>APTOS</a:t>
            </a:r>
            <a:endParaRPr b="1" sz="2200">
              <a:solidFill>
                <a:srgbClr val="FCDFB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94" name="Google Shape;494;p45"/>
          <p:cNvSpPr txBox="1"/>
          <p:nvPr/>
        </p:nvSpPr>
        <p:spPr>
          <a:xfrm>
            <a:off x="7140425" y="2456425"/>
            <a:ext cx="86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CDFB4"/>
                </a:solidFill>
                <a:latin typeface="Josefin Sans"/>
                <a:ea typeface="Josefin Sans"/>
                <a:cs typeface="Josefin Sans"/>
                <a:sym typeface="Josefin Sans"/>
              </a:rPr>
              <a:t>DDR</a:t>
            </a:r>
            <a:endParaRPr b="1" sz="2200">
              <a:solidFill>
                <a:srgbClr val="FCDFB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95" name="Google Shape;495;p45"/>
          <p:cNvSpPr txBox="1"/>
          <p:nvPr/>
        </p:nvSpPr>
        <p:spPr>
          <a:xfrm>
            <a:off x="434575" y="1350800"/>
            <a:ext cx="8274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They are publicly available Kaggle datasets that contain retinal fundus images, graded on a scale of 0 to 4, representing five stages of severity.</a:t>
            </a:r>
            <a:endParaRPr sz="1800"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6"/>
          <p:cNvSpPr txBox="1"/>
          <p:nvPr>
            <p:ph idx="1" type="body"/>
          </p:nvPr>
        </p:nvSpPr>
        <p:spPr>
          <a:xfrm>
            <a:off x="311700" y="107627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cxnSp>
        <p:nvCxnSpPr>
          <p:cNvPr id="501" name="Google Shape;501;p46"/>
          <p:cNvCxnSpPr/>
          <p:nvPr/>
        </p:nvCxnSpPr>
        <p:spPr>
          <a:xfrm flipH="1" rot="-5400000">
            <a:off x="2931590" y="2197276"/>
            <a:ext cx="457200" cy="8454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46"/>
          <p:cNvCxnSpPr/>
          <p:nvPr/>
        </p:nvCxnSpPr>
        <p:spPr>
          <a:xfrm flipH="1" rot="10800000">
            <a:off x="1892390" y="2391376"/>
            <a:ext cx="845100" cy="4572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46"/>
          <p:cNvCxnSpPr/>
          <p:nvPr/>
        </p:nvCxnSpPr>
        <p:spPr>
          <a:xfrm>
            <a:off x="1892400" y="2848575"/>
            <a:ext cx="0" cy="3615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4" name="Google Shape;50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652" y="3230750"/>
            <a:ext cx="1419049" cy="141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600" y="3230749"/>
            <a:ext cx="1419049" cy="141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0950" y="3250250"/>
            <a:ext cx="1419049" cy="1419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7" name="Google Shape;507;p46"/>
          <p:cNvCxnSpPr/>
          <p:nvPr/>
        </p:nvCxnSpPr>
        <p:spPr>
          <a:xfrm>
            <a:off x="3588438" y="2848575"/>
            <a:ext cx="0" cy="3615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8" name="Google Shape;508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7000" y="3230749"/>
            <a:ext cx="1419049" cy="14190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9" name="Google Shape;509;p46"/>
          <p:cNvCxnSpPr/>
          <p:nvPr/>
        </p:nvCxnSpPr>
        <p:spPr>
          <a:xfrm flipH="1" rot="-5400000">
            <a:off x="6609665" y="2217951"/>
            <a:ext cx="457200" cy="8454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46"/>
          <p:cNvCxnSpPr/>
          <p:nvPr/>
        </p:nvCxnSpPr>
        <p:spPr>
          <a:xfrm flipH="1" rot="10800000">
            <a:off x="5570465" y="2412051"/>
            <a:ext cx="845100" cy="4572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46"/>
          <p:cNvCxnSpPr/>
          <p:nvPr/>
        </p:nvCxnSpPr>
        <p:spPr>
          <a:xfrm>
            <a:off x="5570475" y="2869250"/>
            <a:ext cx="0" cy="3615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6"/>
          <p:cNvCxnSpPr/>
          <p:nvPr/>
        </p:nvCxnSpPr>
        <p:spPr>
          <a:xfrm>
            <a:off x="7266513" y="2869250"/>
            <a:ext cx="0" cy="3615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46"/>
          <p:cNvSpPr/>
          <p:nvPr/>
        </p:nvSpPr>
        <p:spPr>
          <a:xfrm>
            <a:off x="5202529" y="1760288"/>
            <a:ext cx="2445900" cy="703800"/>
          </a:xfrm>
          <a:prstGeom prst="roundRect">
            <a:avLst>
              <a:gd fmla="val 50000" name="adj"/>
            </a:avLst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Destroyed Images</a:t>
            </a:r>
            <a:endParaRPr sz="1800"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14" name="Google Shape;514;p46"/>
          <p:cNvSpPr/>
          <p:nvPr/>
        </p:nvSpPr>
        <p:spPr>
          <a:xfrm>
            <a:off x="1501204" y="1770050"/>
            <a:ext cx="2445900" cy="703800"/>
          </a:xfrm>
          <a:prstGeom prst="roundRect">
            <a:avLst>
              <a:gd fmla="val 50000" name="adj"/>
            </a:avLst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Dark and Bright Images</a:t>
            </a:r>
            <a:endParaRPr sz="1800"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15" name="Google Shape;515;p46"/>
          <p:cNvSpPr txBox="1"/>
          <p:nvPr/>
        </p:nvSpPr>
        <p:spPr>
          <a:xfrm>
            <a:off x="3408600" y="501050"/>
            <a:ext cx="232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A54534"/>
                </a:solidFill>
                <a:latin typeface="Josefin Sans"/>
                <a:ea typeface="Josefin Sans"/>
                <a:cs typeface="Josefin Sans"/>
                <a:sym typeface="Josefin Sans"/>
              </a:rPr>
              <a:t>Data Refinement</a:t>
            </a:r>
            <a:endParaRPr b="1" sz="2000">
              <a:solidFill>
                <a:srgbClr val="A5453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516" name="Google Shape;516;p46"/>
          <p:cNvCxnSpPr>
            <a:stCxn id="515" idx="2"/>
          </p:cNvCxnSpPr>
          <p:nvPr/>
        </p:nvCxnSpPr>
        <p:spPr>
          <a:xfrm>
            <a:off x="4568700" y="993650"/>
            <a:ext cx="1200" cy="33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46"/>
          <p:cNvCxnSpPr>
            <a:stCxn id="514" idx="0"/>
          </p:cNvCxnSpPr>
          <p:nvPr/>
        </p:nvCxnSpPr>
        <p:spPr>
          <a:xfrm flipH="1" rot="10800000">
            <a:off x="2724154" y="1320950"/>
            <a:ext cx="2700" cy="44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46"/>
          <p:cNvCxnSpPr/>
          <p:nvPr/>
        </p:nvCxnSpPr>
        <p:spPr>
          <a:xfrm>
            <a:off x="2726975" y="1320850"/>
            <a:ext cx="3698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46"/>
          <p:cNvCxnSpPr/>
          <p:nvPr/>
        </p:nvCxnSpPr>
        <p:spPr>
          <a:xfrm flipH="1" rot="10800000">
            <a:off x="6411754" y="1311200"/>
            <a:ext cx="2700" cy="44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7"/>
          <p:cNvSpPr/>
          <p:nvPr/>
        </p:nvSpPr>
        <p:spPr>
          <a:xfrm>
            <a:off x="1723913" y="13370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A54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7"/>
          <p:cNvSpPr txBox="1"/>
          <p:nvPr/>
        </p:nvSpPr>
        <p:spPr>
          <a:xfrm>
            <a:off x="430200" y="1673625"/>
            <a:ext cx="157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4534"/>
                </a:solidFill>
                <a:latin typeface="Josefin Sans"/>
                <a:ea typeface="Josefin Sans"/>
                <a:cs typeface="Josefin Sans"/>
                <a:sym typeface="Josefin Sans"/>
              </a:rPr>
              <a:t>Normalization</a:t>
            </a:r>
            <a:endParaRPr b="1">
              <a:solidFill>
                <a:srgbClr val="A5453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26" name="Google Shape;526;p47"/>
          <p:cNvSpPr txBox="1"/>
          <p:nvPr/>
        </p:nvSpPr>
        <p:spPr>
          <a:xfrm>
            <a:off x="1809900" y="1673625"/>
            <a:ext cx="2166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4534"/>
                </a:solidFill>
                <a:latin typeface="Josefin Sans"/>
                <a:ea typeface="Josefin Sans"/>
                <a:cs typeface="Josefin Sans"/>
                <a:sym typeface="Josefin Sans"/>
              </a:rPr>
              <a:t>CLAHE equalization</a:t>
            </a:r>
            <a:endParaRPr b="1">
              <a:solidFill>
                <a:srgbClr val="A5453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27" name="Google Shape;527;p47"/>
          <p:cNvSpPr txBox="1"/>
          <p:nvPr/>
        </p:nvSpPr>
        <p:spPr>
          <a:xfrm>
            <a:off x="3854212" y="1673625"/>
            <a:ext cx="1537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D7E6B"/>
                </a:solidFill>
                <a:latin typeface="Josefin Sans"/>
                <a:ea typeface="Josefin Sans"/>
                <a:cs typeface="Josefin Sans"/>
                <a:sym typeface="Josefin Sans"/>
              </a:rPr>
              <a:t>Gaussian Blur</a:t>
            </a:r>
            <a:endParaRPr b="1">
              <a:solidFill>
                <a:srgbClr val="DD7E6B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28" name="Google Shape;528;p47"/>
          <p:cNvSpPr txBox="1"/>
          <p:nvPr/>
        </p:nvSpPr>
        <p:spPr>
          <a:xfrm>
            <a:off x="5233025" y="1673625"/>
            <a:ext cx="230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D7E6B"/>
                </a:solidFill>
                <a:latin typeface="Josefin Sans"/>
                <a:ea typeface="Josefin Sans"/>
                <a:cs typeface="Josefin Sans"/>
                <a:sym typeface="Josefin Sans"/>
              </a:rPr>
              <a:t>Morphological Cleaning</a:t>
            </a:r>
            <a:endParaRPr b="1">
              <a:solidFill>
                <a:srgbClr val="DD7E6B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29" name="Google Shape;529;p47"/>
          <p:cNvSpPr txBox="1"/>
          <p:nvPr/>
        </p:nvSpPr>
        <p:spPr>
          <a:xfrm>
            <a:off x="7217487" y="1673625"/>
            <a:ext cx="1537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D7E6B"/>
                </a:solidFill>
                <a:latin typeface="Josefin Sans"/>
                <a:ea typeface="Josefin Sans"/>
                <a:cs typeface="Josefin Sans"/>
                <a:sym typeface="Josefin Sans"/>
              </a:rPr>
              <a:t>Resizing</a:t>
            </a:r>
            <a:endParaRPr b="1">
              <a:solidFill>
                <a:srgbClr val="DD7E6B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30" name="Google Shape;530;p47"/>
          <p:cNvSpPr/>
          <p:nvPr/>
        </p:nvSpPr>
        <p:spPr>
          <a:xfrm>
            <a:off x="3438138" y="13370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7"/>
          <p:cNvSpPr/>
          <p:nvPr/>
        </p:nvSpPr>
        <p:spPr>
          <a:xfrm>
            <a:off x="5184088" y="13370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7"/>
          <p:cNvSpPr/>
          <p:nvPr/>
        </p:nvSpPr>
        <p:spPr>
          <a:xfrm>
            <a:off x="6853963" y="1337013"/>
            <a:ext cx="594300" cy="36900"/>
          </a:xfrm>
          <a:prstGeom prst="roundRect">
            <a:avLst>
              <a:gd fmla="val 50000" name="adj"/>
            </a:avLst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7"/>
          <p:cNvSpPr/>
          <p:nvPr/>
        </p:nvSpPr>
        <p:spPr>
          <a:xfrm>
            <a:off x="1125003" y="1217125"/>
            <a:ext cx="232800" cy="232800"/>
          </a:xfrm>
          <a:prstGeom prst="ellipse">
            <a:avLst/>
          </a:prstGeom>
          <a:solidFill>
            <a:srgbClr val="A54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7"/>
          <p:cNvSpPr/>
          <p:nvPr/>
        </p:nvSpPr>
        <p:spPr>
          <a:xfrm>
            <a:off x="2761791" y="1239075"/>
            <a:ext cx="232800" cy="232800"/>
          </a:xfrm>
          <a:prstGeom prst="ellipse">
            <a:avLst/>
          </a:prstGeom>
          <a:solidFill>
            <a:srgbClr val="A54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7"/>
          <p:cNvSpPr/>
          <p:nvPr/>
        </p:nvSpPr>
        <p:spPr>
          <a:xfrm>
            <a:off x="4491866" y="1239075"/>
            <a:ext cx="232800" cy="2328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7"/>
          <p:cNvSpPr/>
          <p:nvPr/>
        </p:nvSpPr>
        <p:spPr>
          <a:xfrm>
            <a:off x="6199778" y="1239075"/>
            <a:ext cx="232800" cy="2328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7"/>
          <p:cNvSpPr/>
          <p:nvPr/>
        </p:nvSpPr>
        <p:spPr>
          <a:xfrm>
            <a:off x="7869678" y="1239075"/>
            <a:ext cx="232800" cy="2328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7"/>
          <p:cNvSpPr txBox="1"/>
          <p:nvPr/>
        </p:nvSpPr>
        <p:spPr>
          <a:xfrm>
            <a:off x="3253000" y="468525"/>
            <a:ext cx="273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A54534"/>
                </a:solidFill>
                <a:latin typeface="Josefin Sans"/>
                <a:ea typeface="Josefin Sans"/>
                <a:cs typeface="Josefin Sans"/>
                <a:sym typeface="Josefin Sans"/>
              </a:rPr>
              <a:t>Image Enhancement</a:t>
            </a:r>
            <a:endParaRPr b="1" sz="2000">
              <a:solidFill>
                <a:srgbClr val="A5453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39" name="Google Shape;539;p47"/>
          <p:cNvPicPr preferRelativeResize="0"/>
          <p:nvPr/>
        </p:nvPicPr>
        <p:blipFill rotWithShape="1">
          <a:blip r:embed="rId3">
            <a:alphaModFix/>
          </a:blip>
          <a:srcRect b="8831" l="9539" r="5289" t="4067"/>
          <a:stretch/>
        </p:blipFill>
        <p:spPr>
          <a:xfrm>
            <a:off x="1790800" y="2391750"/>
            <a:ext cx="2482150" cy="230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47"/>
          <p:cNvPicPr preferRelativeResize="0"/>
          <p:nvPr/>
        </p:nvPicPr>
        <p:blipFill rotWithShape="1">
          <a:blip r:embed="rId4">
            <a:alphaModFix/>
          </a:blip>
          <a:srcRect b="8831" l="9999" r="4829" t="4067"/>
          <a:stretch/>
        </p:blipFill>
        <p:spPr>
          <a:xfrm>
            <a:off x="4871050" y="2391750"/>
            <a:ext cx="2482150" cy="2301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7"/>
          <p:cNvSpPr txBox="1"/>
          <p:nvPr/>
        </p:nvSpPr>
        <p:spPr>
          <a:xfrm>
            <a:off x="2676525" y="4693475"/>
            <a:ext cx="7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Before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42" name="Google Shape;542;p47"/>
          <p:cNvSpPr txBox="1"/>
          <p:nvPr/>
        </p:nvSpPr>
        <p:spPr>
          <a:xfrm>
            <a:off x="5756775" y="4693475"/>
            <a:ext cx="7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After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400" y="1822025"/>
            <a:ext cx="2479374" cy="248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550" y="1822026"/>
            <a:ext cx="3776450" cy="248892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8"/>
          <p:cNvSpPr txBox="1"/>
          <p:nvPr/>
        </p:nvSpPr>
        <p:spPr>
          <a:xfrm>
            <a:off x="3498000" y="448350"/>
            <a:ext cx="21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A54534"/>
                </a:solidFill>
                <a:latin typeface="Josefin Sans"/>
                <a:ea typeface="Josefin Sans"/>
                <a:cs typeface="Josefin Sans"/>
                <a:sym typeface="Josefin Sans"/>
              </a:rPr>
              <a:t>Circle Cropping</a:t>
            </a:r>
            <a:endParaRPr b="1" sz="2000">
              <a:solidFill>
                <a:srgbClr val="A5453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50" name="Google Shape;550;p48"/>
          <p:cNvSpPr txBox="1"/>
          <p:nvPr/>
        </p:nvSpPr>
        <p:spPr>
          <a:xfrm>
            <a:off x="2310275" y="4505875"/>
            <a:ext cx="7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Before 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51" name="Google Shape;551;p48"/>
          <p:cNvSpPr txBox="1"/>
          <p:nvPr/>
        </p:nvSpPr>
        <p:spPr>
          <a:xfrm>
            <a:off x="6785638" y="4505875"/>
            <a:ext cx="64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After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552" name="Google Shape;552;p48"/>
          <p:cNvCxnSpPr/>
          <p:nvPr/>
        </p:nvCxnSpPr>
        <p:spPr>
          <a:xfrm>
            <a:off x="4810875" y="3060425"/>
            <a:ext cx="831300" cy="0"/>
          </a:xfrm>
          <a:prstGeom prst="straightConnector1">
            <a:avLst/>
          </a:prstGeom>
          <a:noFill/>
          <a:ln cap="flat" cmpd="sng" w="28575">
            <a:solidFill>
              <a:srgbClr val="A5453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48"/>
          <p:cNvSpPr txBox="1"/>
          <p:nvPr/>
        </p:nvSpPr>
        <p:spPr>
          <a:xfrm>
            <a:off x="2546250" y="1055525"/>
            <a:ext cx="40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efin Sans"/>
                <a:ea typeface="Josefin Sans"/>
                <a:cs typeface="Josefin Sans"/>
                <a:sym typeface="Josefin Sans"/>
              </a:rPr>
              <a:t>Black area is considered as an outlier</a:t>
            </a:r>
            <a:endParaRPr sz="1800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9" name="Google Shape;559;p49"/>
          <p:cNvSpPr txBox="1"/>
          <p:nvPr/>
        </p:nvSpPr>
        <p:spPr>
          <a:xfrm>
            <a:off x="311700" y="34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Data Imbalance</a:t>
            </a:r>
            <a:endParaRPr b="1" sz="2320">
              <a:solidFill>
                <a:srgbClr val="A72A1E"/>
              </a:solidFill>
            </a:endParaRPr>
          </a:p>
        </p:txBody>
      </p:sp>
      <p:pic>
        <p:nvPicPr>
          <p:cNvPr id="560" name="Google Shape;560;p4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263" y="1127850"/>
            <a:ext cx="61794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0"/>
          <p:cNvSpPr/>
          <p:nvPr/>
        </p:nvSpPr>
        <p:spPr>
          <a:xfrm rot="5400000">
            <a:off x="5895113" y="1350314"/>
            <a:ext cx="1216200" cy="1216200"/>
          </a:xfrm>
          <a:prstGeom prst="ellipse">
            <a:avLst/>
          </a:prstGeom>
          <a:solidFill>
            <a:srgbClr val="FCE2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7" name="Google Shape;567;p50"/>
          <p:cNvSpPr/>
          <p:nvPr/>
        </p:nvSpPr>
        <p:spPr>
          <a:xfrm>
            <a:off x="7172082" y="3182737"/>
            <a:ext cx="2549231" cy="2548394"/>
          </a:xfrm>
          <a:custGeom>
            <a:rect b="b" l="l" r="r" t="t"/>
            <a:pathLst>
              <a:path extrusionOk="0" h="94350" w="94381">
                <a:moveTo>
                  <a:pt x="71508" y="1"/>
                </a:moveTo>
                <a:cubicBezTo>
                  <a:pt x="59069" y="1"/>
                  <a:pt x="48998" y="10072"/>
                  <a:pt x="48998" y="22510"/>
                </a:cubicBezTo>
                <a:cubicBezTo>
                  <a:pt x="48998" y="23521"/>
                  <a:pt x="49045" y="24515"/>
                  <a:pt x="49187" y="25494"/>
                </a:cubicBezTo>
                <a:cubicBezTo>
                  <a:pt x="49645" y="28967"/>
                  <a:pt x="50892" y="32171"/>
                  <a:pt x="52739" y="34965"/>
                </a:cubicBezTo>
                <a:cubicBezTo>
                  <a:pt x="55391" y="38943"/>
                  <a:pt x="59274" y="42037"/>
                  <a:pt x="63852" y="43694"/>
                </a:cubicBezTo>
                <a:cubicBezTo>
                  <a:pt x="65414" y="44278"/>
                  <a:pt x="66472" y="45715"/>
                  <a:pt x="66472" y="47372"/>
                </a:cubicBezTo>
                <a:lnTo>
                  <a:pt x="66472" y="47404"/>
                </a:lnTo>
                <a:lnTo>
                  <a:pt x="66472" y="47467"/>
                </a:lnTo>
                <a:cubicBezTo>
                  <a:pt x="66472" y="48872"/>
                  <a:pt x="65557" y="50087"/>
                  <a:pt x="64231" y="50545"/>
                </a:cubicBezTo>
                <a:cubicBezTo>
                  <a:pt x="59416" y="52203"/>
                  <a:pt x="55328" y="55439"/>
                  <a:pt x="52613" y="59637"/>
                </a:cubicBezTo>
                <a:cubicBezTo>
                  <a:pt x="51287" y="61674"/>
                  <a:pt x="50276" y="63947"/>
                  <a:pt x="49692" y="66378"/>
                </a:cubicBezTo>
                <a:cubicBezTo>
                  <a:pt x="49424" y="67420"/>
                  <a:pt x="48508" y="68146"/>
                  <a:pt x="47419" y="68146"/>
                </a:cubicBezTo>
                <a:lnTo>
                  <a:pt x="47372" y="68146"/>
                </a:lnTo>
                <a:cubicBezTo>
                  <a:pt x="45888" y="68146"/>
                  <a:pt x="44594" y="67136"/>
                  <a:pt x="44183" y="65699"/>
                </a:cubicBezTo>
                <a:cubicBezTo>
                  <a:pt x="42699" y="60474"/>
                  <a:pt x="39385" y="56007"/>
                  <a:pt x="34965" y="53071"/>
                </a:cubicBezTo>
                <a:cubicBezTo>
                  <a:pt x="32108" y="51177"/>
                  <a:pt x="28793" y="49914"/>
                  <a:pt x="25209" y="49488"/>
                </a:cubicBezTo>
                <a:cubicBezTo>
                  <a:pt x="24325" y="49377"/>
                  <a:pt x="23426" y="49330"/>
                  <a:pt x="22510" y="49330"/>
                </a:cubicBezTo>
                <a:cubicBezTo>
                  <a:pt x="10087" y="49330"/>
                  <a:pt x="0" y="59416"/>
                  <a:pt x="0" y="71840"/>
                </a:cubicBezTo>
                <a:cubicBezTo>
                  <a:pt x="0" y="84278"/>
                  <a:pt x="10087" y="94349"/>
                  <a:pt x="22510" y="94349"/>
                </a:cubicBezTo>
                <a:cubicBezTo>
                  <a:pt x="23520" y="94349"/>
                  <a:pt x="24531" y="94302"/>
                  <a:pt x="25493" y="94160"/>
                </a:cubicBezTo>
                <a:cubicBezTo>
                  <a:pt x="28966" y="93702"/>
                  <a:pt x="32186" y="92455"/>
                  <a:pt x="34965" y="90608"/>
                </a:cubicBezTo>
                <a:cubicBezTo>
                  <a:pt x="38943" y="87956"/>
                  <a:pt x="42052" y="84073"/>
                  <a:pt x="43710" y="79495"/>
                </a:cubicBezTo>
                <a:cubicBezTo>
                  <a:pt x="44278" y="77933"/>
                  <a:pt x="45714" y="76875"/>
                  <a:pt x="47372" y="76875"/>
                </a:cubicBezTo>
                <a:lnTo>
                  <a:pt x="47435" y="76875"/>
                </a:lnTo>
                <a:cubicBezTo>
                  <a:pt x="48682" y="76875"/>
                  <a:pt x="49740" y="77680"/>
                  <a:pt x="50134" y="78864"/>
                </a:cubicBezTo>
                <a:cubicBezTo>
                  <a:pt x="53102" y="87862"/>
                  <a:pt x="61563" y="94349"/>
                  <a:pt x="71555" y="94349"/>
                </a:cubicBezTo>
                <a:lnTo>
                  <a:pt x="71871" y="94349"/>
                </a:lnTo>
                <a:cubicBezTo>
                  <a:pt x="84294" y="94349"/>
                  <a:pt x="94380" y="84278"/>
                  <a:pt x="94380" y="71840"/>
                </a:cubicBezTo>
                <a:cubicBezTo>
                  <a:pt x="94317" y="61279"/>
                  <a:pt x="87056" y="52408"/>
                  <a:pt x="77253" y="49977"/>
                </a:cubicBezTo>
                <a:cubicBezTo>
                  <a:pt x="76070" y="49677"/>
                  <a:pt x="75201" y="48635"/>
                  <a:pt x="75201" y="47420"/>
                </a:cubicBezTo>
                <a:lnTo>
                  <a:pt x="75201" y="47388"/>
                </a:lnTo>
                <a:lnTo>
                  <a:pt x="75201" y="47372"/>
                </a:lnTo>
                <a:cubicBezTo>
                  <a:pt x="75201" y="45888"/>
                  <a:pt x="76212" y="44594"/>
                  <a:pt x="77648" y="44168"/>
                </a:cubicBezTo>
                <a:cubicBezTo>
                  <a:pt x="82873" y="42700"/>
                  <a:pt x="87340" y="39385"/>
                  <a:pt x="90276" y="34965"/>
                </a:cubicBezTo>
                <a:cubicBezTo>
                  <a:pt x="92171" y="32092"/>
                  <a:pt x="93433" y="28777"/>
                  <a:pt x="93860" y="25210"/>
                </a:cubicBezTo>
                <a:cubicBezTo>
                  <a:pt x="93970" y="24326"/>
                  <a:pt x="94017" y="23410"/>
                  <a:pt x="94017" y="22510"/>
                </a:cubicBezTo>
                <a:cubicBezTo>
                  <a:pt x="94017" y="10072"/>
                  <a:pt x="83946" y="1"/>
                  <a:pt x="71508" y="1"/>
                </a:cubicBezTo>
                <a:close/>
              </a:path>
            </a:pathLst>
          </a:custGeom>
          <a:solidFill>
            <a:srgbClr val="FCDFB4">
              <a:alpha val="893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0"/>
          <p:cNvSpPr/>
          <p:nvPr/>
        </p:nvSpPr>
        <p:spPr>
          <a:xfrm rot="5400000">
            <a:off x="7944388" y="-438811"/>
            <a:ext cx="1216200" cy="1216200"/>
          </a:xfrm>
          <a:prstGeom prst="ellipse">
            <a:avLst/>
          </a:prstGeom>
          <a:solidFill>
            <a:srgbClr val="CFD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0"/>
          <p:cNvSpPr txBox="1"/>
          <p:nvPr>
            <p:ph type="title"/>
          </p:nvPr>
        </p:nvSpPr>
        <p:spPr>
          <a:xfrm>
            <a:off x="2548800" y="354550"/>
            <a:ext cx="40464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72A1E"/>
                </a:solidFill>
              </a:rPr>
              <a:t>Data Augmentation</a:t>
            </a:r>
            <a:endParaRPr>
              <a:solidFill>
                <a:srgbClr val="A72A1E"/>
              </a:solidFill>
            </a:endParaRPr>
          </a:p>
        </p:txBody>
      </p:sp>
      <p:sp>
        <p:nvSpPr>
          <p:cNvPr id="570" name="Google Shape;570;p50"/>
          <p:cNvSpPr txBox="1"/>
          <p:nvPr>
            <p:ph idx="1" type="body"/>
          </p:nvPr>
        </p:nvSpPr>
        <p:spPr>
          <a:xfrm>
            <a:off x="1027450" y="2653800"/>
            <a:ext cx="2562600" cy="20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Josefin Sans"/>
                <a:ea typeface="Josefin Sans"/>
                <a:cs typeface="Josefin Sans"/>
                <a:sym typeface="Josefin Sans"/>
              </a:rPr>
              <a:t>Traditional Augmentation Techniques</a:t>
            </a:r>
            <a:endParaRPr b="1" sz="13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Josefin Sans"/>
              <a:buChar char="●"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Horizontal flip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Char char="●"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Rotation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Char char="●"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Width and height shift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Char char="●"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Zoom</a:t>
            </a:r>
            <a:endParaRPr sz="13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                                              </a:t>
            </a:r>
            <a:endParaRPr/>
          </a:p>
        </p:txBody>
      </p:sp>
      <p:sp>
        <p:nvSpPr>
          <p:cNvPr id="571" name="Google Shape;571;p50"/>
          <p:cNvSpPr txBox="1"/>
          <p:nvPr>
            <p:ph idx="4294967295" type="body"/>
          </p:nvPr>
        </p:nvSpPr>
        <p:spPr>
          <a:xfrm>
            <a:off x="5457575" y="2653800"/>
            <a:ext cx="2091300" cy="17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osefin Sans"/>
                <a:ea typeface="Josefin Sans"/>
                <a:cs typeface="Josefin Sans"/>
                <a:sym typeface="Josefin Sans"/>
              </a:rPr>
              <a:t>Augmentation using Morphological Filters</a:t>
            </a:r>
            <a:endParaRPr b="1"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Josefin Sans"/>
              <a:buChar char="●"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Erosion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Char char="●"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Dilation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Char char="●"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Opening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Char char="●"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Closing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72" name="Google Shape;572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3" name="Google Shape;573;p50"/>
          <p:cNvSpPr/>
          <p:nvPr/>
        </p:nvSpPr>
        <p:spPr>
          <a:xfrm rot="5400000">
            <a:off x="1673950" y="1350314"/>
            <a:ext cx="1216200" cy="1216200"/>
          </a:xfrm>
          <a:prstGeom prst="ellipse">
            <a:avLst/>
          </a:prstGeom>
          <a:solidFill>
            <a:srgbClr val="A72A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0"/>
          <p:cNvSpPr/>
          <p:nvPr/>
        </p:nvSpPr>
        <p:spPr>
          <a:xfrm>
            <a:off x="5978525" y="1433725"/>
            <a:ext cx="1049400" cy="1049400"/>
          </a:xfrm>
          <a:prstGeom prst="arc">
            <a:avLst>
              <a:gd fmla="val 16200000" name="adj1"/>
              <a:gd fmla="val 10900291" name="adj2"/>
            </a:avLst>
          </a:prstGeom>
          <a:noFill/>
          <a:ln cap="flat" cmpd="sng" w="28575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0"/>
          <p:cNvSpPr/>
          <p:nvPr/>
        </p:nvSpPr>
        <p:spPr>
          <a:xfrm>
            <a:off x="1757350" y="1433725"/>
            <a:ext cx="1049400" cy="1049400"/>
          </a:xfrm>
          <a:prstGeom prst="arc">
            <a:avLst>
              <a:gd fmla="val 16200000" name="adj1"/>
              <a:gd fmla="val 10900291" name="adj2"/>
            </a:avLst>
          </a:prstGeom>
          <a:noFill/>
          <a:ln cap="flat" cmpd="sng" w="28575">
            <a:solidFill>
              <a:srgbClr val="FCE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6" name="Google Shape;576;p50"/>
          <p:cNvGrpSpPr/>
          <p:nvPr/>
        </p:nvGrpSpPr>
        <p:grpSpPr>
          <a:xfrm>
            <a:off x="2007691" y="1693283"/>
            <a:ext cx="548713" cy="530301"/>
            <a:chOff x="-1333200" y="2770450"/>
            <a:chExt cx="291450" cy="292225"/>
          </a:xfrm>
        </p:grpSpPr>
        <p:sp>
          <p:nvSpPr>
            <p:cNvPr id="577" name="Google Shape;577;p50"/>
            <p:cNvSpPr/>
            <p:nvPr/>
          </p:nvSpPr>
          <p:spPr>
            <a:xfrm>
              <a:off x="-1299325" y="2808250"/>
              <a:ext cx="222925" cy="134725"/>
            </a:xfrm>
            <a:custGeom>
              <a:rect b="b" l="l" r="r" t="t"/>
              <a:pathLst>
                <a:path extrusionOk="0" h="5389" w="8917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rgbClr val="FCE2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50"/>
            <p:cNvSpPr/>
            <p:nvPr/>
          </p:nvSpPr>
          <p:spPr>
            <a:xfrm>
              <a:off x="-1333200" y="2770450"/>
              <a:ext cx="291450" cy="292225"/>
            </a:xfrm>
            <a:custGeom>
              <a:rect b="b" l="l" r="r" t="t"/>
              <a:pathLst>
                <a:path extrusionOk="0" h="11689" w="11658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rgbClr val="FCE2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79" name="Google Shape;57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875" y="1684074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50"/>
          <p:cNvSpPr/>
          <p:nvPr/>
        </p:nvSpPr>
        <p:spPr>
          <a:xfrm rot="5400000">
            <a:off x="8505113" y="134114"/>
            <a:ext cx="1216200" cy="1216200"/>
          </a:xfrm>
          <a:prstGeom prst="ellipse">
            <a:avLst/>
          </a:prstGeom>
          <a:solidFill>
            <a:srgbClr val="CFD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1"/>
          <p:cNvSpPr txBox="1"/>
          <p:nvPr/>
        </p:nvSpPr>
        <p:spPr>
          <a:xfrm>
            <a:off x="3183150" y="432975"/>
            <a:ext cx="277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20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EfficientNetB1</a:t>
            </a:r>
            <a:endParaRPr b="1" sz="3020">
              <a:solidFill>
                <a:srgbClr val="A72A1E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86" name="Google Shape;586;p51"/>
          <p:cNvSpPr txBox="1"/>
          <p:nvPr/>
        </p:nvSpPr>
        <p:spPr>
          <a:xfrm>
            <a:off x="3117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It is based on the compound scaling method that optimizes depth, width, and resolution to achieve better accuracy and efficiency trade-offs.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It has a relatively compact size compared to larger models, with approximately 7.8 million parameters.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It was trained on ImageNet dataset and it accepts an input shape of (224, 224, 3)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87" name="Google Shape;58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037104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2"/>
          <p:cNvSpPr txBox="1"/>
          <p:nvPr/>
        </p:nvSpPr>
        <p:spPr>
          <a:xfrm>
            <a:off x="3366900" y="336625"/>
            <a:ext cx="2410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3038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InceptionV3</a:t>
            </a:r>
            <a:endParaRPr b="1" sz="3038">
              <a:solidFill>
                <a:srgbClr val="A72A1E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94" name="Google Shape;594;p52"/>
          <p:cNvSpPr txBox="1"/>
          <p:nvPr/>
        </p:nvSpPr>
        <p:spPr>
          <a:xfrm>
            <a:off x="311700" y="1152475"/>
            <a:ext cx="48996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It is a relatively large model with approximately 23 million trainable parameters.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It consists of multiple Inception modules, which are designed to capture multi-scale features using a combination of 1x1, 3x3, and 5x5 convolutions and max pooling operations.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It incorporates factorization and dimensionality reduction techniques, to improve computational efficiency while maintaining performance.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95" name="Google Shape;59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2875" y="1118625"/>
            <a:ext cx="3488726" cy="3546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3"/>
          <p:cNvSpPr txBox="1"/>
          <p:nvPr/>
        </p:nvSpPr>
        <p:spPr>
          <a:xfrm>
            <a:off x="3659400" y="396825"/>
            <a:ext cx="182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3038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Xception</a:t>
            </a:r>
            <a:endParaRPr b="1" sz="3038">
              <a:solidFill>
                <a:srgbClr val="A72A1E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602" name="Google Shape;602;p53"/>
          <p:cNvSpPr txBox="1"/>
          <p:nvPr/>
        </p:nvSpPr>
        <p:spPr>
          <a:xfrm>
            <a:off x="311700" y="1152475"/>
            <a:ext cx="852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It is a relatively large model with approximately 22 million trainable parameters.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603" name="Google Shape;60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2575" y="1919200"/>
            <a:ext cx="3135927" cy="238332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53"/>
          <p:cNvSpPr txBox="1"/>
          <p:nvPr/>
        </p:nvSpPr>
        <p:spPr>
          <a:xfrm>
            <a:off x="311700" y="1637275"/>
            <a:ext cx="5384700" cy="29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It introduces depthwise separable convolutions, which decouple spatial and channel-wise convolutions, reducing computational complexity and enhancing the model's ability to capture spatial and channel-wise dependencies.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Xception's design allows it to achieve high accuracy with fewer parameters and computations compared to traditional convolutional neural network architectures.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605" name="Google Shape;605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4"/>
          <p:cNvSpPr txBox="1"/>
          <p:nvPr/>
        </p:nvSpPr>
        <p:spPr>
          <a:xfrm>
            <a:off x="3231900" y="360700"/>
            <a:ext cx="2680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MobileNetV2</a:t>
            </a:r>
            <a:endParaRPr b="1" sz="3000">
              <a:solidFill>
                <a:srgbClr val="A72A1E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611" name="Google Shape;611;p54"/>
          <p:cNvSpPr txBox="1"/>
          <p:nvPr/>
        </p:nvSpPr>
        <p:spPr>
          <a:xfrm>
            <a:off x="311700" y="1152475"/>
            <a:ext cx="85206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Josefin Sans"/>
              <a:buChar char="●"/>
            </a:pPr>
            <a:r>
              <a:rPr lang="en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It is a lightweight model designed for efficient inference on mobile and embedded devices, with a small memory footprint and approximately 3.4 million trainable parameters.</a:t>
            </a:r>
            <a:endParaRPr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17182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Josefin Sans"/>
              <a:buChar char="●"/>
            </a:pPr>
            <a:r>
              <a:rPr lang="en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It employs depthwise separable convolutions, which split the standard convolution operation into a depthwise convolution and a pointwise convolution, significantly reducing the computational cost and model size.</a:t>
            </a:r>
            <a:endParaRPr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12" name="Google Shape;61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0297" y="3054025"/>
            <a:ext cx="5043400" cy="18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9" name="Google Shape;619;p55"/>
          <p:cNvSpPr txBox="1"/>
          <p:nvPr/>
        </p:nvSpPr>
        <p:spPr>
          <a:xfrm>
            <a:off x="1081650" y="432975"/>
            <a:ext cx="698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36666"/>
              <a:buFont typeface="Arial"/>
              <a:buNone/>
            </a:pPr>
            <a:r>
              <a:rPr b="1" lang="en" sz="3000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Phase 1: Initial Training using AlexNet &amp; Vgg16 </a:t>
            </a:r>
            <a:endParaRPr b="1" sz="242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620" name="Google Shape;62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1191250"/>
            <a:ext cx="360045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55"/>
          <p:cNvSpPr txBox="1"/>
          <p:nvPr/>
        </p:nvSpPr>
        <p:spPr>
          <a:xfrm>
            <a:off x="3931550" y="1852200"/>
            <a:ext cx="411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Josefin Sans"/>
                <a:ea typeface="Josefin Sans"/>
                <a:cs typeface="Josefin Sans"/>
                <a:sym typeface="Josefin Sans"/>
              </a:rPr>
              <a:t>The model failed to classify the DR stages, and only detected the majority class (No_DR).</a:t>
            </a:r>
            <a:endParaRPr sz="1600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5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Phase 2: Experiments on EfficientNetB1</a:t>
            </a:r>
            <a:endParaRPr b="1" sz="2650"/>
          </a:p>
        </p:txBody>
      </p:sp>
      <p:sp>
        <p:nvSpPr>
          <p:cNvPr id="628" name="Google Shape;628;p56"/>
          <p:cNvSpPr txBox="1"/>
          <p:nvPr/>
        </p:nvSpPr>
        <p:spPr>
          <a:xfrm>
            <a:off x="3617250" y="1017725"/>
            <a:ext cx="190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efin Sans Medium"/>
                <a:ea typeface="Josefin Sans Medium"/>
                <a:cs typeface="Josefin Sans Medium"/>
                <a:sym typeface="Josefin Sans Medium"/>
              </a:rPr>
              <a:t>Model Summary</a:t>
            </a:r>
            <a:endParaRPr sz="18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grpSp>
        <p:nvGrpSpPr>
          <p:cNvPr id="629" name="Google Shape;629;p56"/>
          <p:cNvGrpSpPr/>
          <p:nvPr/>
        </p:nvGrpSpPr>
        <p:grpSpPr>
          <a:xfrm>
            <a:off x="970951" y="1678099"/>
            <a:ext cx="7204810" cy="3096801"/>
            <a:chOff x="1351951" y="1297099"/>
            <a:chExt cx="7204810" cy="3096801"/>
          </a:xfrm>
        </p:grpSpPr>
        <p:cxnSp>
          <p:nvCxnSpPr>
            <p:cNvPr id="630" name="Google Shape;630;p56"/>
            <p:cNvCxnSpPr/>
            <p:nvPr/>
          </p:nvCxnSpPr>
          <p:spPr>
            <a:xfrm>
              <a:off x="4822925" y="1334225"/>
              <a:ext cx="20115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31" name="Google Shape;631;p56"/>
            <p:cNvGrpSpPr/>
            <p:nvPr/>
          </p:nvGrpSpPr>
          <p:grpSpPr>
            <a:xfrm>
              <a:off x="1351951" y="1297099"/>
              <a:ext cx="7204810" cy="3096801"/>
              <a:chOff x="1351951" y="1297099"/>
              <a:chExt cx="7204810" cy="3096801"/>
            </a:xfrm>
          </p:grpSpPr>
          <p:sp>
            <p:nvSpPr>
              <p:cNvPr id="632" name="Google Shape;632;p56"/>
              <p:cNvSpPr/>
              <p:nvPr/>
            </p:nvSpPr>
            <p:spPr>
              <a:xfrm>
                <a:off x="2813828" y="3635400"/>
                <a:ext cx="1473110" cy="364242"/>
              </a:xfrm>
              <a:custGeom>
                <a:rect b="b" l="l" r="r" t="t"/>
                <a:pathLst>
                  <a:path extrusionOk="0" h="6286" w="42851">
                    <a:moveTo>
                      <a:pt x="0" y="0"/>
                    </a:moveTo>
                    <a:lnTo>
                      <a:pt x="0" y="6285"/>
                    </a:lnTo>
                    <a:lnTo>
                      <a:pt x="42851" y="6285"/>
                    </a:lnTo>
                    <a:lnTo>
                      <a:pt x="42851" y="0"/>
                    </a:lnTo>
                    <a:close/>
                  </a:path>
                </a:pathLst>
              </a:custGeom>
              <a:solidFill>
                <a:srgbClr val="CFE2F3"/>
              </a:solidFill>
              <a:ln cap="flat" cmpd="sng" w="9525">
                <a:solidFill>
                  <a:srgbClr val="667E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/>
                  <a:t>        Rate = 0.4</a:t>
                </a:r>
                <a:endParaRPr sz="1100"/>
              </a:p>
            </p:txBody>
          </p:sp>
          <p:sp>
            <p:nvSpPr>
              <p:cNvPr id="633" name="Google Shape;633;p56"/>
              <p:cNvSpPr/>
              <p:nvPr/>
            </p:nvSpPr>
            <p:spPr>
              <a:xfrm>
                <a:off x="1351951" y="3635400"/>
                <a:ext cx="1473213" cy="364242"/>
              </a:xfrm>
              <a:custGeom>
                <a:rect b="b" l="l" r="r" t="t"/>
                <a:pathLst>
                  <a:path extrusionOk="0" h="6286" w="42854">
                    <a:moveTo>
                      <a:pt x="0" y="0"/>
                    </a:moveTo>
                    <a:lnTo>
                      <a:pt x="0" y="6285"/>
                    </a:lnTo>
                    <a:lnTo>
                      <a:pt x="42854" y="6285"/>
                    </a:lnTo>
                    <a:lnTo>
                      <a:pt x="42854" y="0"/>
                    </a:lnTo>
                    <a:close/>
                  </a:path>
                </a:pathLst>
              </a:custGeom>
              <a:solidFill>
                <a:srgbClr val="9FC5E8"/>
              </a:solidFill>
              <a:ln cap="flat" cmpd="sng" w="9525">
                <a:solidFill>
                  <a:srgbClr val="CFD9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     </a:t>
                </a:r>
                <a:r>
                  <a:rPr lang="en" sz="1300"/>
                  <a:t>Dropout</a:t>
                </a:r>
                <a:endParaRPr sz="1300"/>
              </a:p>
            </p:txBody>
          </p:sp>
          <p:sp>
            <p:nvSpPr>
              <p:cNvPr id="634" name="Google Shape;634;p56"/>
              <p:cNvSpPr/>
              <p:nvPr/>
            </p:nvSpPr>
            <p:spPr>
              <a:xfrm>
                <a:off x="2813825" y="3050800"/>
                <a:ext cx="1272460" cy="364242"/>
              </a:xfrm>
              <a:custGeom>
                <a:rect b="b" l="l" r="r" t="t"/>
                <a:pathLst>
                  <a:path extrusionOk="0" h="6286" w="42851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CFE2F3"/>
              </a:solidFill>
              <a:ln cap="flat" cmpd="sng" w="9525">
                <a:solidFill>
                  <a:srgbClr val="667E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/>
                  <a:t>      Units = 256</a:t>
                </a:r>
                <a:endParaRPr sz="1100"/>
              </a:p>
            </p:txBody>
          </p:sp>
          <p:sp>
            <p:nvSpPr>
              <p:cNvPr id="635" name="Google Shape;635;p56"/>
              <p:cNvSpPr/>
              <p:nvPr/>
            </p:nvSpPr>
            <p:spPr>
              <a:xfrm>
                <a:off x="1552575" y="3050800"/>
                <a:ext cx="1272550" cy="364242"/>
              </a:xfrm>
              <a:custGeom>
                <a:rect b="b" l="l" r="r" t="t"/>
                <a:pathLst>
                  <a:path extrusionOk="0" h="6286" w="42854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9FC5E8"/>
              </a:solidFill>
              <a:ln cap="flat" cmpd="sng" w="9525">
                <a:solidFill>
                  <a:srgbClr val="CFD9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     </a:t>
                </a:r>
                <a:r>
                  <a:rPr lang="en" sz="1300"/>
                  <a:t>Dense</a:t>
                </a:r>
                <a:endParaRPr sz="1300"/>
              </a:p>
            </p:txBody>
          </p:sp>
          <p:sp>
            <p:nvSpPr>
              <p:cNvPr id="636" name="Google Shape;636;p56"/>
              <p:cNvSpPr/>
              <p:nvPr/>
            </p:nvSpPr>
            <p:spPr>
              <a:xfrm>
                <a:off x="1956925" y="2466250"/>
                <a:ext cx="1824114" cy="364242"/>
              </a:xfrm>
              <a:custGeom>
                <a:rect b="b" l="l" r="r" t="t"/>
                <a:pathLst>
                  <a:path extrusionOk="0" h="6286" w="33089">
                    <a:moveTo>
                      <a:pt x="0" y="0"/>
                    </a:moveTo>
                    <a:lnTo>
                      <a:pt x="0" y="6285"/>
                    </a:lnTo>
                    <a:lnTo>
                      <a:pt x="33089" y="6285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9FC5E8"/>
              </a:solidFill>
              <a:ln cap="flat" cmpd="sng" w="9525">
                <a:solidFill>
                  <a:srgbClr val="CFD9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/>
                  <a:t> Batch Normalization</a:t>
                </a:r>
                <a:endParaRPr sz="1300"/>
              </a:p>
            </p:txBody>
          </p:sp>
          <p:sp>
            <p:nvSpPr>
              <p:cNvPr id="637" name="Google Shape;637;p56"/>
              <p:cNvSpPr/>
              <p:nvPr/>
            </p:nvSpPr>
            <p:spPr>
              <a:xfrm>
                <a:off x="2140198" y="1881648"/>
                <a:ext cx="1370731" cy="364300"/>
              </a:xfrm>
              <a:custGeom>
                <a:rect b="b" l="l" r="r" t="t"/>
                <a:pathLst>
                  <a:path extrusionOk="0" h="6287" w="26580">
                    <a:moveTo>
                      <a:pt x="1" y="1"/>
                    </a:moveTo>
                    <a:lnTo>
                      <a:pt x="1" y="6286"/>
                    </a:lnTo>
                    <a:lnTo>
                      <a:pt x="26580" y="6286"/>
                    </a:lnTo>
                    <a:lnTo>
                      <a:pt x="26580" y="1"/>
                    </a:lnTo>
                    <a:close/>
                  </a:path>
                </a:pathLst>
              </a:custGeom>
              <a:solidFill>
                <a:srgbClr val="9FC5E8"/>
              </a:solidFill>
              <a:ln cap="flat" cmpd="sng" w="9525">
                <a:solidFill>
                  <a:srgbClr val="CFD9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/>
                  <a:t>   Base Model</a:t>
                </a:r>
                <a:endParaRPr sz="1300"/>
              </a:p>
            </p:txBody>
          </p:sp>
          <p:sp>
            <p:nvSpPr>
              <p:cNvPr id="638" name="Google Shape;638;p56"/>
              <p:cNvSpPr/>
              <p:nvPr/>
            </p:nvSpPr>
            <p:spPr>
              <a:xfrm>
                <a:off x="2813835" y="1297099"/>
                <a:ext cx="1035010" cy="364068"/>
              </a:xfrm>
              <a:custGeom>
                <a:rect b="b" l="l" r="r" t="t"/>
                <a:pathLst>
                  <a:path extrusionOk="0" h="6283" w="20070">
                    <a:moveTo>
                      <a:pt x="0" y="1"/>
                    </a:moveTo>
                    <a:lnTo>
                      <a:pt x="0" y="6283"/>
                    </a:lnTo>
                    <a:lnTo>
                      <a:pt x="20069" y="6283"/>
                    </a:lnTo>
                    <a:lnTo>
                      <a:pt x="20069" y="1"/>
                    </a:lnTo>
                    <a:close/>
                  </a:path>
                </a:pathLst>
              </a:custGeom>
              <a:solidFill>
                <a:srgbClr val="CFE2F3"/>
              </a:solidFill>
              <a:ln cap="flat" cmpd="sng" w="9525">
                <a:solidFill>
                  <a:srgbClr val="667E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</a:rPr>
                  <a:t> </a:t>
                </a:r>
                <a:r>
                  <a:rPr lang="en" sz="1100">
                    <a:solidFill>
                      <a:srgbClr val="000000"/>
                    </a:solidFill>
                  </a:rPr>
                  <a:t>(224, 224, 3)</a:t>
                </a:r>
                <a:endParaRPr sz="1100"/>
              </a:p>
            </p:txBody>
          </p:sp>
          <p:sp>
            <p:nvSpPr>
              <p:cNvPr id="639" name="Google Shape;639;p56"/>
              <p:cNvSpPr/>
              <p:nvPr/>
            </p:nvSpPr>
            <p:spPr>
              <a:xfrm>
                <a:off x="1789964" y="1297099"/>
                <a:ext cx="1035165" cy="364068"/>
              </a:xfrm>
              <a:custGeom>
                <a:rect b="b" l="l" r="r" t="t"/>
                <a:pathLst>
                  <a:path extrusionOk="0" h="6283" w="20073">
                    <a:moveTo>
                      <a:pt x="1" y="1"/>
                    </a:moveTo>
                    <a:lnTo>
                      <a:pt x="1" y="6283"/>
                    </a:lnTo>
                    <a:lnTo>
                      <a:pt x="20073" y="6283"/>
                    </a:lnTo>
                    <a:lnTo>
                      <a:pt x="20073" y="1"/>
                    </a:lnTo>
                    <a:close/>
                  </a:path>
                </a:pathLst>
              </a:custGeom>
              <a:solidFill>
                <a:srgbClr val="9FC5E8"/>
              </a:solidFill>
              <a:ln cap="flat" cmpd="sng" w="9525">
                <a:solidFill>
                  <a:srgbClr val="CFD9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   </a:t>
                </a:r>
                <a:r>
                  <a:rPr lang="en" sz="1300"/>
                  <a:t>Input</a:t>
                </a:r>
                <a:endParaRPr sz="1300"/>
              </a:p>
            </p:txBody>
          </p:sp>
          <p:cxnSp>
            <p:nvCxnSpPr>
              <p:cNvPr id="640" name="Google Shape;640;p56"/>
              <p:cNvCxnSpPr/>
              <p:nvPr/>
            </p:nvCxnSpPr>
            <p:spPr>
              <a:xfrm>
                <a:off x="2817375" y="1635375"/>
                <a:ext cx="0" cy="216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41" name="Google Shape;641;p56"/>
              <p:cNvCxnSpPr/>
              <p:nvPr/>
            </p:nvCxnSpPr>
            <p:spPr>
              <a:xfrm>
                <a:off x="2817375" y="2257550"/>
                <a:ext cx="0" cy="216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42" name="Google Shape;642;p56"/>
              <p:cNvCxnSpPr/>
              <p:nvPr/>
            </p:nvCxnSpPr>
            <p:spPr>
              <a:xfrm>
                <a:off x="2819400" y="2874325"/>
                <a:ext cx="0" cy="216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43" name="Google Shape;643;p56"/>
              <p:cNvCxnSpPr/>
              <p:nvPr/>
            </p:nvCxnSpPr>
            <p:spPr>
              <a:xfrm>
                <a:off x="2819400" y="3453750"/>
                <a:ext cx="0" cy="216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644" name="Google Shape;644;p56"/>
              <p:cNvGrpSpPr/>
              <p:nvPr/>
            </p:nvGrpSpPr>
            <p:grpSpPr>
              <a:xfrm>
                <a:off x="5083000" y="1805025"/>
                <a:ext cx="3473761" cy="1533442"/>
                <a:chOff x="5058925" y="1750825"/>
                <a:chExt cx="3473761" cy="1533442"/>
              </a:xfrm>
            </p:grpSpPr>
            <p:sp>
              <p:nvSpPr>
                <p:cNvPr id="645" name="Google Shape;645;p56"/>
                <p:cNvSpPr/>
                <p:nvPr/>
              </p:nvSpPr>
              <p:spPr>
                <a:xfrm>
                  <a:off x="6790178" y="2335425"/>
                  <a:ext cx="1473110" cy="364242"/>
                </a:xfrm>
                <a:custGeom>
                  <a:rect b="b" l="l" r="r" t="t"/>
                  <a:pathLst>
                    <a:path extrusionOk="0" h="6286" w="42851">
                      <a:moveTo>
                        <a:pt x="0" y="0"/>
                      </a:moveTo>
                      <a:lnTo>
                        <a:pt x="0" y="6285"/>
                      </a:lnTo>
                      <a:lnTo>
                        <a:pt x="42851" y="6285"/>
                      </a:lnTo>
                      <a:lnTo>
                        <a:pt x="42851" y="0"/>
                      </a:lnTo>
                      <a:close/>
                    </a:path>
                  </a:pathLst>
                </a:custGeom>
                <a:solidFill>
                  <a:srgbClr val="CFE2F3"/>
                </a:solidFill>
                <a:ln cap="flat" cmpd="sng" w="9525">
                  <a:solidFill>
                    <a:srgbClr val="667E9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/>
                    <a:t>        Rate = 0.5</a:t>
                  </a:r>
                  <a:endParaRPr sz="1100"/>
                </a:p>
              </p:txBody>
            </p:sp>
            <p:sp>
              <p:nvSpPr>
                <p:cNvPr id="646" name="Google Shape;646;p56"/>
                <p:cNvSpPr/>
                <p:nvPr/>
              </p:nvSpPr>
              <p:spPr>
                <a:xfrm>
                  <a:off x="5328301" y="2335425"/>
                  <a:ext cx="1473213" cy="364242"/>
                </a:xfrm>
                <a:custGeom>
                  <a:rect b="b" l="l" r="r" t="t"/>
                  <a:pathLst>
                    <a:path extrusionOk="0" h="6286" w="42854">
                      <a:moveTo>
                        <a:pt x="0" y="0"/>
                      </a:moveTo>
                      <a:lnTo>
                        <a:pt x="0" y="6285"/>
                      </a:lnTo>
                      <a:lnTo>
                        <a:pt x="42854" y="6285"/>
                      </a:lnTo>
                      <a:lnTo>
                        <a:pt x="42854" y="0"/>
                      </a:lnTo>
                      <a:close/>
                    </a:path>
                  </a:pathLst>
                </a:custGeom>
                <a:solidFill>
                  <a:srgbClr val="9FC5E8"/>
                </a:solidFill>
                <a:ln cap="flat" cmpd="sng" w="9525">
                  <a:solidFill>
                    <a:srgbClr val="CFD9E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  </a:t>
                  </a:r>
                  <a:r>
                    <a:rPr lang="en" sz="1300"/>
                    <a:t>Dropout</a:t>
                  </a:r>
                  <a:endParaRPr sz="1300"/>
                </a:p>
              </p:txBody>
            </p:sp>
            <p:sp>
              <p:nvSpPr>
                <p:cNvPr id="647" name="Google Shape;647;p56"/>
                <p:cNvSpPr/>
                <p:nvPr/>
              </p:nvSpPr>
              <p:spPr>
                <a:xfrm>
                  <a:off x="6790175" y="1750825"/>
                  <a:ext cx="1272460" cy="364242"/>
                </a:xfrm>
                <a:custGeom>
                  <a:rect b="b" l="l" r="r" t="t"/>
                  <a:pathLst>
                    <a:path extrusionOk="0" h="6286" w="42851">
                      <a:moveTo>
                        <a:pt x="0" y="1"/>
                      </a:moveTo>
                      <a:lnTo>
                        <a:pt x="0" y="6286"/>
                      </a:lnTo>
                      <a:lnTo>
                        <a:pt x="42851" y="6286"/>
                      </a:lnTo>
                      <a:lnTo>
                        <a:pt x="42851" y="1"/>
                      </a:lnTo>
                      <a:close/>
                    </a:path>
                  </a:pathLst>
                </a:custGeom>
                <a:solidFill>
                  <a:srgbClr val="CFE2F3"/>
                </a:solidFill>
                <a:ln cap="flat" cmpd="sng" w="9525">
                  <a:solidFill>
                    <a:srgbClr val="667E9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/>
                    <a:t>      Units = 128</a:t>
                  </a:r>
                  <a:endParaRPr sz="1100"/>
                </a:p>
              </p:txBody>
            </p:sp>
            <p:sp>
              <p:nvSpPr>
                <p:cNvPr id="648" name="Google Shape;648;p56"/>
                <p:cNvSpPr/>
                <p:nvPr/>
              </p:nvSpPr>
              <p:spPr>
                <a:xfrm>
                  <a:off x="5528925" y="1750825"/>
                  <a:ext cx="1272550" cy="364242"/>
                </a:xfrm>
                <a:custGeom>
                  <a:rect b="b" l="l" r="r" t="t"/>
                  <a:pathLst>
                    <a:path extrusionOk="0" h="6286" w="42854">
                      <a:moveTo>
                        <a:pt x="0" y="1"/>
                      </a:moveTo>
                      <a:lnTo>
                        <a:pt x="0" y="6286"/>
                      </a:lnTo>
                      <a:lnTo>
                        <a:pt x="42854" y="6286"/>
                      </a:lnTo>
                      <a:lnTo>
                        <a:pt x="42854" y="1"/>
                      </a:lnTo>
                      <a:close/>
                    </a:path>
                  </a:pathLst>
                </a:custGeom>
                <a:solidFill>
                  <a:srgbClr val="9FC5E8"/>
                </a:solidFill>
                <a:ln cap="flat" cmpd="sng" w="9525">
                  <a:solidFill>
                    <a:srgbClr val="CFD9E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  </a:t>
                  </a:r>
                  <a:r>
                    <a:rPr lang="en" sz="1300"/>
                    <a:t>Dense</a:t>
                  </a:r>
                  <a:endParaRPr sz="1300"/>
                </a:p>
              </p:txBody>
            </p:sp>
            <p:cxnSp>
              <p:nvCxnSpPr>
                <p:cNvPr id="649" name="Google Shape;649;p56"/>
                <p:cNvCxnSpPr/>
                <p:nvPr/>
              </p:nvCxnSpPr>
              <p:spPr>
                <a:xfrm>
                  <a:off x="6795750" y="2153775"/>
                  <a:ext cx="0" cy="216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595959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650" name="Google Shape;650;p56"/>
                <p:cNvSpPr/>
                <p:nvPr/>
              </p:nvSpPr>
              <p:spPr>
                <a:xfrm>
                  <a:off x="6790150" y="2920025"/>
                  <a:ext cx="1742536" cy="364242"/>
                </a:xfrm>
                <a:custGeom>
                  <a:rect b="b" l="l" r="r" t="t"/>
                  <a:pathLst>
                    <a:path extrusionOk="0" h="6286" w="42851">
                      <a:moveTo>
                        <a:pt x="0" y="1"/>
                      </a:moveTo>
                      <a:lnTo>
                        <a:pt x="0" y="6286"/>
                      </a:lnTo>
                      <a:lnTo>
                        <a:pt x="42851" y="6286"/>
                      </a:lnTo>
                      <a:lnTo>
                        <a:pt x="42851" y="1"/>
                      </a:lnTo>
                      <a:close/>
                    </a:path>
                  </a:pathLst>
                </a:custGeom>
                <a:solidFill>
                  <a:srgbClr val="CFE2F3"/>
                </a:solidFill>
                <a:ln cap="flat" cmpd="sng" w="9525">
                  <a:solidFill>
                    <a:srgbClr val="667E9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/>
                    <a:t>       Units = 5,  softmax</a:t>
                  </a:r>
                  <a:endParaRPr sz="1100"/>
                </a:p>
              </p:txBody>
            </p:sp>
            <p:sp>
              <p:nvSpPr>
                <p:cNvPr id="651" name="Google Shape;651;p56"/>
                <p:cNvSpPr/>
                <p:nvPr/>
              </p:nvSpPr>
              <p:spPr>
                <a:xfrm>
                  <a:off x="5058925" y="2920025"/>
                  <a:ext cx="1742551" cy="364242"/>
                </a:xfrm>
                <a:custGeom>
                  <a:rect b="b" l="l" r="r" t="t"/>
                  <a:pathLst>
                    <a:path extrusionOk="0" h="6286" w="42854">
                      <a:moveTo>
                        <a:pt x="0" y="1"/>
                      </a:moveTo>
                      <a:lnTo>
                        <a:pt x="0" y="6286"/>
                      </a:lnTo>
                      <a:lnTo>
                        <a:pt x="42854" y="6286"/>
                      </a:lnTo>
                      <a:lnTo>
                        <a:pt x="42854" y="1"/>
                      </a:lnTo>
                      <a:close/>
                    </a:path>
                  </a:pathLst>
                </a:custGeom>
                <a:solidFill>
                  <a:srgbClr val="9FC5E8"/>
                </a:solidFill>
                <a:ln cap="flat" cmpd="sng" w="9525">
                  <a:solidFill>
                    <a:srgbClr val="CFD9E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      </a:t>
                  </a:r>
                  <a:r>
                    <a:rPr lang="en" sz="1300"/>
                    <a:t>Dense</a:t>
                  </a:r>
                  <a:endParaRPr sz="1300"/>
                </a:p>
              </p:txBody>
            </p:sp>
            <p:cxnSp>
              <p:nvCxnSpPr>
                <p:cNvPr id="652" name="Google Shape;652;p56"/>
                <p:cNvCxnSpPr/>
                <p:nvPr/>
              </p:nvCxnSpPr>
              <p:spPr>
                <a:xfrm>
                  <a:off x="6795750" y="2724150"/>
                  <a:ext cx="0" cy="216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595959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cxnSp>
            <p:nvCxnSpPr>
              <p:cNvPr id="653" name="Google Shape;653;p56"/>
              <p:cNvCxnSpPr/>
              <p:nvPr/>
            </p:nvCxnSpPr>
            <p:spPr>
              <a:xfrm>
                <a:off x="2811300" y="4020400"/>
                <a:ext cx="0" cy="373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4" name="Google Shape;654;p56"/>
              <p:cNvCxnSpPr/>
              <p:nvPr/>
            </p:nvCxnSpPr>
            <p:spPr>
              <a:xfrm flipH="1" rot="10800000">
                <a:off x="2811300" y="4357600"/>
                <a:ext cx="2011500" cy="2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" name="Google Shape;655;p56"/>
              <p:cNvCxnSpPr/>
              <p:nvPr/>
            </p:nvCxnSpPr>
            <p:spPr>
              <a:xfrm rot="10800000">
                <a:off x="4810925" y="1334275"/>
                <a:ext cx="12000" cy="3023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" name="Google Shape;656;p56"/>
              <p:cNvCxnSpPr/>
              <p:nvPr/>
            </p:nvCxnSpPr>
            <p:spPr>
              <a:xfrm>
                <a:off x="6819875" y="1334225"/>
                <a:ext cx="0" cy="481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" name="Google Shape;657;p56"/>
              <p:cNvCxnSpPr/>
              <p:nvPr/>
            </p:nvCxnSpPr>
            <p:spPr>
              <a:xfrm>
                <a:off x="6819875" y="1364375"/>
                <a:ext cx="0" cy="42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3" name="Google Shape;663;p5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Phase 2: Experiments on EfficientNetB1</a:t>
            </a:r>
            <a:endParaRPr b="1" sz="2420">
              <a:solidFill>
                <a:srgbClr val="000000"/>
              </a:solidFill>
            </a:endParaRPr>
          </a:p>
        </p:txBody>
      </p:sp>
      <p:pic>
        <p:nvPicPr>
          <p:cNvPr id="664" name="Google Shape;664;p57"/>
          <p:cNvPicPr preferRelativeResize="0"/>
          <p:nvPr/>
        </p:nvPicPr>
        <p:blipFill rotWithShape="1">
          <a:blip r:embed="rId3">
            <a:alphaModFix/>
          </a:blip>
          <a:srcRect b="0" l="0" r="0" t="4589"/>
          <a:stretch/>
        </p:blipFill>
        <p:spPr>
          <a:xfrm>
            <a:off x="-5250" y="1777207"/>
            <a:ext cx="2759197" cy="3071285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57"/>
          <p:cNvSpPr txBox="1"/>
          <p:nvPr/>
        </p:nvSpPr>
        <p:spPr>
          <a:xfrm>
            <a:off x="769950" y="1177600"/>
            <a:ext cx="174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Raw EyePACS</a:t>
            </a:r>
            <a:endParaRPr sz="1600"/>
          </a:p>
        </p:txBody>
      </p:sp>
      <p:pic>
        <p:nvPicPr>
          <p:cNvPr id="666" name="Google Shape;666;p57"/>
          <p:cNvPicPr preferRelativeResize="0"/>
          <p:nvPr/>
        </p:nvPicPr>
        <p:blipFill rotWithShape="1">
          <a:blip r:embed="rId4">
            <a:alphaModFix/>
          </a:blip>
          <a:srcRect b="0" l="36187" r="0" t="0"/>
          <a:stretch/>
        </p:blipFill>
        <p:spPr>
          <a:xfrm>
            <a:off x="2977600" y="1742525"/>
            <a:ext cx="1870414" cy="314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57"/>
          <p:cNvPicPr preferRelativeResize="0"/>
          <p:nvPr/>
        </p:nvPicPr>
        <p:blipFill rotWithShape="1">
          <a:blip r:embed="rId5">
            <a:alphaModFix/>
          </a:blip>
          <a:srcRect b="0" l="36220" r="0" t="0"/>
          <a:stretch/>
        </p:blipFill>
        <p:spPr>
          <a:xfrm>
            <a:off x="5071667" y="1772204"/>
            <a:ext cx="1829108" cy="3081295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57"/>
          <p:cNvSpPr txBox="1"/>
          <p:nvPr/>
        </p:nvSpPr>
        <p:spPr>
          <a:xfrm>
            <a:off x="2853443" y="1186225"/>
            <a:ext cx="201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0000"/>
                </a:solidFill>
              </a:rPr>
              <a:t>Refined EyePACS</a:t>
            </a:r>
            <a:endParaRPr sz="1200"/>
          </a:p>
        </p:txBody>
      </p:sp>
      <p:sp>
        <p:nvSpPr>
          <p:cNvPr id="669" name="Google Shape;669;p57"/>
          <p:cNvSpPr txBox="1"/>
          <p:nvPr/>
        </p:nvSpPr>
        <p:spPr>
          <a:xfrm>
            <a:off x="5085752" y="1186225"/>
            <a:ext cx="208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Combined Dataset</a:t>
            </a:r>
            <a:endParaRPr sz="1200"/>
          </a:p>
        </p:txBody>
      </p:sp>
      <p:sp>
        <p:nvSpPr>
          <p:cNvPr id="670" name="Google Shape;670;p57"/>
          <p:cNvSpPr/>
          <p:nvPr/>
        </p:nvSpPr>
        <p:spPr>
          <a:xfrm>
            <a:off x="7238510" y="1794686"/>
            <a:ext cx="1380900" cy="1380900"/>
          </a:xfrm>
          <a:prstGeom prst="ellipse">
            <a:avLst/>
          </a:prstGeom>
          <a:solidFill>
            <a:srgbClr val="083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7"/>
          <p:cNvSpPr txBox="1"/>
          <p:nvPr/>
        </p:nvSpPr>
        <p:spPr>
          <a:xfrm>
            <a:off x="6900775" y="3175488"/>
            <a:ext cx="20562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rgbClr val="212121"/>
                </a:solidFill>
                <a:latin typeface="Josefin Sans Medium"/>
                <a:ea typeface="Josefin Sans Medium"/>
                <a:cs typeface="Josefin Sans Medium"/>
                <a:sym typeface="Josefin Sans Medium"/>
              </a:rPr>
              <a:t>Accuracy on test set</a:t>
            </a:r>
            <a:endParaRPr sz="2000">
              <a:solidFill>
                <a:srgbClr val="212121"/>
              </a:solidFill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672" name="Google Shape;672;p57"/>
          <p:cNvSpPr/>
          <p:nvPr/>
        </p:nvSpPr>
        <p:spPr>
          <a:xfrm>
            <a:off x="7308770" y="1864947"/>
            <a:ext cx="1240200" cy="1240200"/>
          </a:xfrm>
          <a:prstGeom prst="arc">
            <a:avLst>
              <a:gd fmla="val 16159658" name="adj1"/>
              <a:gd fmla="val 20137812" name="adj2"/>
            </a:avLst>
          </a:prstGeom>
          <a:noFill/>
          <a:ln cap="flat" cmpd="sng" w="152400">
            <a:solidFill>
              <a:srgbClr val="E5EF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7"/>
          <p:cNvSpPr/>
          <p:nvPr/>
        </p:nvSpPr>
        <p:spPr>
          <a:xfrm>
            <a:off x="7379029" y="1935207"/>
            <a:ext cx="1099800" cy="1099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7"/>
          <p:cNvSpPr txBox="1"/>
          <p:nvPr/>
        </p:nvSpPr>
        <p:spPr>
          <a:xfrm>
            <a:off x="7379029" y="2222080"/>
            <a:ext cx="10998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212121"/>
                </a:solidFill>
                <a:latin typeface="Josefin Sans"/>
                <a:ea typeface="Josefin Sans"/>
                <a:cs typeface="Josefin Sans"/>
                <a:sym typeface="Josefin Sans"/>
              </a:rPr>
              <a:t>80.15%</a:t>
            </a:r>
            <a:endParaRPr b="1" sz="2600">
              <a:solidFill>
                <a:srgbClr val="21212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0" name="Google Shape;680;p5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Phase 3: Transfer Learning</a:t>
            </a:r>
            <a:endParaRPr b="1" sz="2420">
              <a:solidFill>
                <a:srgbClr val="000000"/>
              </a:solidFill>
            </a:endParaRPr>
          </a:p>
        </p:txBody>
      </p:sp>
      <p:sp>
        <p:nvSpPr>
          <p:cNvPr id="681" name="Google Shape;681;p58"/>
          <p:cNvSpPr txBox="1"/>
          <p:nvPr/>
        </p:nvSpPr>
        <p:spPr>
          <a:xfrm>
            <a:off x="1774625" y="1025075"/>
            <a:ext cx="144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efin Sans Medium"/>
                <a:ea typeface="Josefin Sans Medium"/>
                <a:cs typeface="Josefin Sans Medium"/>
                <a:sym typeface="Josefin Sans Medium"/>
              </a:rPr>
              <a:t>InceptionV3</a:t>
            </a:r>
            <a:endParaRPr sz="18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pic>
        <p:nvPicPr>
          <p:cNvPr id="682" name="Google Shape;68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88" y="1494125"/>
            <a:ext cx="3429435" cy="342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8"/>
          <p:cNvPicPr preferRelativeResize="0"/>
          <p:nvPr/>
        </p:nvPicPr>
        <p:blipFill rotWithShape="1">
          <a:blip r:embed="rId4">
            <a:alphaModFix/>
          </a:blip>
          <a:srcRect b="0" l="32831" r="0" t="0"/>
          <a:stretch/>
        </p:blipFill>
        <p:spPr>
          <a:xfrm>
            <a:off x="3811572" y="1494125"/>
            <a:ext cx="2261225" cy="342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58"/>
          <p:cNvPicPr preferRelativeResize="0"/>
          <p:nvPr/>
        </p:nvPicPr>
        <p:blipFill rotWithShape="1">
          <a:blip r:embed="rId5">
            <a:alphaModFix/>
          </a:blip>
          <a:srcRect b="0" l="37343" r="0" t="0"/>
          <a:stretch/>
        </p:blipFill>
        <p:spPr>
          <a:xfrm>
            <a:off x="6219450" y="1578727"/>
            <a:ext cx="2261225" cy="3628097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8"/>
          <p:cNvSpPr txBox="1"/>
          <p:nvPr/>
        </p:nvSpPr>
        <p:spPr>
          <a:xfrm>
            <a:off x="4373700" y="1025075"/>
            <a:ext cx="112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efin Sans Medium"/>
                <a:ea typeface="Josefin Sans Medium"/>
                <a:cs typeface="Josefin Sans Medium"/>
                <a:sym typeface="Josefin Sans Medium"/>
              </a:rPr>
              <a:t>Xception</a:t>
            </a:r>
            <a:endParaRPr sz="18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686" name="Google Shape;686;p58"/>
          <p:cNvSpPr txBox="1"/>
          <p:nvPr/>
        </p:nvSpPr>
        <p:spPr>
          <a:xfrm>
            <a:off x="6547225" y="1067375"/>
            <a:ext cx="167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efin Sans Medium"/>
                <a:ea typeface="Josefin Sans Medium"/>
                <a:cs typeface="Josefin Sans Medium"/>
                <a:sym typeface="Josefin Sans Medium"/>
              </a:rPr>
              <a:t>MobileNetV2</a:t>
            </a:r>
            <a:endParaRPr sz="18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2" name="Google Shape;692;p59"/>
          <p:cNvSpPr txBox="1"/>
          <p:nvPr/>
        </p:nvSpPr>
        <p:spPr>
          <a:xfrm>
            <a:off x="2653650" y="292625"/>
            <a:ext cx="383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A54534"/>
                </a:solidFill>
                <a:latin typeface="Josefin Sans"/>
                <a:ea typeface="Josefin Sans"/>
                <a:cs typeface="Josefin Sans"/>
                <a:sym typeface="Josefin Sans"/>
              </a:rPr>
              <a:t>Summary of Results</a:t>
            </a:r>
            <a:endParaRPr b="1" sz="3000">
              <a:solidFill>
                <a:srgbClr val="A54534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693" name="Google Shape;693;p5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7650" y="1017725"/>
            <a:ext cx="6348699" cy="39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9" name="Google Shape;699;p6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Phase 4: Applying Morphological Filters 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700" name="Google Shape;70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300" y="2014300"/>
            <a:ext cx="3201469" cy="30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1525" y="1996725"/>
            <a:ext cx="2978175" cy="30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60"/>
          <p:cNvSpPr txBox="1"/>
          <p:nvPr/>
        </p:nvSpPr>
        <p:spPr>
          <a:xfrm>
            <a:off x="311700" y="1046963"/>
            <a:ext cx="53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efin Sans Medium"/>
                <a:ea typeface="Josefin Sans Medium"/>
                <a:cs typeface="Josefin Sans Medium"/>
                <a:sym typeface="Josefin Sans Medium"/>
              </a:rPr>
              <a:t>With InceptionV3</a:t>
            </a:r>
            <a:endParaRPr sz="18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703" name="Google Shape;703;p60"/>
          <p:cNvSpPr txBox="1"/>
          <p:nvPr/>
        </p:nvSpPr>
        <p:spPr>
          <a:xfrm>
            <a:off x="2256025" y="1537900"/>
            <a:ext cx="89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Before</a:t>
            </a:r>
            <a:endParaRPr sz="1800"/>
          </a:p>
        </p:txBody>
      </p:sp>
      <p:sp>
        <p:nvSpPr>
          <p:cNvPr id="704" name="Google Shape;704;p60"/>
          <p:cNvSpPr txBox="1"/>
          <p:nvPr/>
        </p:nvSpPr>
        <p:spPr>
          <a:xfrm>
            <a:off x="6535375" y="1537900"/>
            <a:ext cx="66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After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1"/>
          <p:cNvSpPr txBox="1"/>
          <p:nvPr>
            <p:ph type="title"/>
          </p:nvPr>
        </p:nvSpPr>
        <p:spPr>
          <a:xfrm>
            <a:off x="1159675" y="365775"/>
            <a:ext cx="73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72A1E"/>
                </a:solidFill>
              </a:rPr>
              <a:t>Phase 5: </a:t>
            </a:r>
            <a:r>
              <a:rPr lang="en">
                <a:solidFill>
                  <a:srgbClr val="A72A1E"/>
                </a:solidFill>
              </a:rPr>
              <a:t>Binary Classification</a:t>
            </a:r>
            <a:endParaRPr>
              <a:solidFill>
                <a:srgbClr val="A72A1E"/>
              </a:solidFill>
            </a:endParaRPr>
          </a:p>
        </p:txBody>
      </p:sp>
      <p:sp>
        <p:nvSpPr>
          <p:cNvPr id="710" name="Google Shape;710;p61"/>
          <p:cNvSpPr txBox="1"/>
          <p:nvPr>
            <p:ph idx="1" type="body"/>
          </p:nvPr>
        </p:nvSpPr>
        <p:spPr>
          <a:xfrm>
            <a:off x="1146944" y="2615184"/>
            <a:ext cx="2691000" cy="1323000"/>
          </a:xfrm>
          <a:prstGeom prst="rect">
            <a:avLst/>
          </a:prstGeom>
        </p:spPr>
        <p:txBody>
          <a:bodyPr anchorCtr="0" anchor="t" bIns="0" lIns="91425" spcFirstLastPara="1" rIns="91425" wrap="square" tIns="18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Josefin Sans Medium"/>
                <a:ea typeface="Josefin Sans Medium"/>
                <a:cs typeface="Josefin Sans Medium"/>
                <a:sym typeface="Josefin Sans Medium"/>
              </a:rPr>
              <a:t>Accuracy on test set using MobileNetV2</a:t>
            </a:r>
            <a:endParaRPr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711" name="Google Shape;711;p61"/>
          <p:cNvSpPr txBox="1"/>
          <p:nvPr>
            <p:ph idx="2" type="title"/>
          </p:nvPr>
        </p:nvSpPr>
        <p:spPr>
          <a:xfrm>
            <a:off x="1147144" y="2040625"/>
            <a:ext cx="2691000" cy="7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72A1E"/>
                </a:solidFill>
              </a:rPr>
              <a:t>87.88%</a:t>
            </a:r>
            <a:endParaRPr>
              <a:solidFill>
                <a:srgbClr val="A72A1E"/>
              </a:solidFill>
            </a:endParaRPr>
          </a:p>
        </p:txBody>
      </p:sp>
      <p:sp>
        <p:nvSpPr>
          <p:cNvPr id="712" name="Google Shape;712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3" name="Google Shape;713;p61"/>
          <p:cNvSpPr/>
          <p:nvPr/>
        </p:nvSpPr>
        <p:spPr>
          <a:xfrm>
            <a:off x="5422800" y="2745375"/>
            <a:ext cx="548700" cy="11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61"/>
          <p:cNvSpPr/>
          <p:nvPr/>
        </p:nvSpPr>
        <p:spPr>
          <a:xfrm>
            <a:off x="7404000" y="2745375"/>
            <a:ext cx="548700" cy="11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1"/>
          <p:cNvSpPr/>
          <p:nvPr/>
        </p:nvSpPr>
        <p:spPr>
          <a:xfrm rot="5400000">
            <a:off x="6304150" y="1830975"/>
            <a:ext cx="548700" cy="11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61"/>
          <p:cNvSpPr/>
          <p:nvPr/>
        </p:nvSpPr>
        <p:spPr>
          <a:xfrm rot="5400000">
            <a:off x="6261000" y="3845250"/>
            <a:ext cx="548700" cy="11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7" name="Google Shape;71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7443" y="1097224"/>
            <a:ext cx="3875825" cy="380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p6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Phase 5: Binary Classification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724" name="Google Shape;72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3225" y="3083100"/>
            <a:ext cx="4577924" cy="18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62"/>
          <p:cNvPicPr preferRelativeResize="0"/>
          <p:nvPr/>
        </p:nvPicPr>
        <p:blipFill rotWithShape="1">
          <a:blip r:embed="rId4">
            <a:alphaModFix/>
          </a:blip>
          <a:srcRect b="19478" l="0" r="0" t="0"/>
          <a:stretch/>
        </p:blipFill>
        <p:spPr>
          <a:xfrm>
            <a:off x="311700" y="1017713"/>
            <a:ext cx="4668426" cy="19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62"/>
          <p:cNvSpPr txBox="1"/>
          <p:nvPr/>
        </p:nvSpPr>
        <p:spPr>
          <a:xfrm>
            <a:off x="1439463" y="3033450"/>
            <a:ext cx="24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efin Sans Medium"/>
                <a:ea typeface="Josefin Sans Medium"/>
                <a:cs typeface="Josefin Sans Medium"/>
                <a:sym typeface="Josefin Sans Medium"/>
              </a:rPr>
              <a:t>5-Class Classification</a:t>
            </a:r>
            <a:endParaRPr sz="18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727" name="Google Shape;727;p62"/>
          <p:cNvSpPr txBox="1"/>
          <p:nvPr/>
        </p:nvSpPr>
        <p:spPr>
          <a:xfrm>
            <a:off x="5530152" y="2571750"/>
            <a:ext cx="266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efin Sans Medium"/>
                <a:ea typeface="Josefin Sans Medium"/>
                <a:cs typeface="Josefin Sans Medium"/>
                <a:sym typeface="Josefin Sans Medium"/>
              </a:rPr>
              <a:t>Binary Classification</a:t>
            </a:r>
            <a:endParaRPr sz="1800"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3"/>
          <p:cNvSpPr txBox="1"/>
          <p:nvPr>
            <p:ph type="title"/>
          </p:nvPr>
        </p:nvSpPr>
        <p:spPr>
          <a:xfrm>
            <a:off x="873450" y="549075"/>
            <a:ext cx="73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72A1E"/>
                </a:solidFill>
              </a:rPr>
              <a:t>Summary of Related Work</a:t>
            </a:r>
            <a:endParaRPr>
              <a:solidFill>
                <a:srgbClr val="A72A1E"/>
              </a:solidFill>
            </a:endParaRPr>
          </a:p>
        </p:txBody>
      </p:sp>
      <p:graphicFrame>
        <p:nvGraphicFramePr>
          <p:cNvPr id="733" name="Google Shape;733;p63"/>
          <p:cNvGraphicFramePr/>
          <p:nvPr/>
        </p:nvGraphicFramePr>
        <p:xfrm>
          <a:off x="924925" y="1364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{0F562E5D-F8D0-4223-AC89-C24509DD9A65}</a:tableStyleId>
              </a:tblPr>
              <a:tblGrid>
                <a:gridCol w="1224275"/>
                <a:gridCol w="1224275"/>
                <a:gridCol w="1224275"/>
                <a:gridCol w="1224275"/>
                <a:gridCol w="1224275"/>
                <a:gridCol w="1224275"/>
              </a:tblGrid>
              <a:tr h="822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Architecture</a:t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Accuracy</a:t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Precision</a:t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Recall</a:t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F1-score</a:t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6325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Other works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</a:t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E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EfficientNetB1</a:t>
                      </a:r>
                      <a:endParaRPr sz="1200"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78%</a:t>
                      </a:r>
                      <a:endParaRPr b="1">
                        <a:solidFill>
                          <a:schemeClr val="dk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0.69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0.83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0.78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3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EfficientNetB3</a:t>
                      </a:r>
                      <a:endParaRPr sz="1200"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85%</a:t>
                      </a:r>
                      <a:endParaRPr b="1">
                        <a:solidFill>
                          <a:schemeClr val="dk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0.85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0.72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0.84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3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InceptionV3</a:t>
                      </a:r>
                      <a:endParaRPr sz="1300"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80%</a:t>
                      </a:r>
                      <a:endParaRPr b="1">
                        <a:solidFill>
                          <a:schemeClr val="dk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0.76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0.80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0.77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3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Our Work</a:t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E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EfficientNetB1</a:t>
                      </a:r>
                      <a:endParaRPr sz="1200"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80.15%</a:t>
                      </a:r>
                      <a:endParaRPr b="1">
                        <a:solidFill>
                          <a:schemeClr val="dk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0.81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0.77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0.80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3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InceptionV3</a:t>
                      </a:r>
                      <a:endParaRPr>
                        <a:solidFill>
                          <a:schemeClr val="dk1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81.65%</a:t>
                      </a:r>
                      <a:endParaRPr b="1">
                        <a:solidFill>
                          <a:schemeClr val="dk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0.78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0.81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Josefin Sans Medium"/>
                          <a:ea typeface="Josefin Sans Medium"/>
                          <a:cs typeface="Josefin Sans Medium"/>
                          <a:sym typeface="Josefin Sans Medium"/>
                        </a:rPr>
                        <a:t>0.79</a:t>
                      </a:r>
                      <a:endParaRPr>
                        <a:solidFill>
                          <a:srgbClr val="666666"/>
                        </a:solidFill>
                        <a:latin typeface="Josefin Sans Medium"/>
                        <a:ea typeface="Josefin Sans Medium"/>
                        <a:cs typeface="Josefin Sans Medium"/>
                        <a:sym typeface="Josefin Sans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4" name="Google Shape;734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4"/>
          <p:cNvSpPr/>
          <p:nvPr/>
        </p:nvSpPr>
        <p:spPr>
          <a:xfrm>
            <a:off x="3963926" y="1530875"/>
            <a:ext cx="1301100" cy="1301100"/>
          </a:xfrm>
          <a:prstGeom prst="ellipse">
            <a:avLst/>
          </a:prstGeom>
          <a:solidFill>
            <a:srgbClr val="FEFADD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64"/>
          <p:cNvSpPr/>
          <p:nvPr/>
        </p:nvSpPr>
        <p:spPr>
          <a:xfrm>
            <a:off x="-120892" y="1536450"/>
            <a:ext cx="2562643" cy="1222642"/>
          </a:xfrm>
          <a:custGeom>
            <a:rect b="b" l="l" r="r" t="t"/>
            <a:pathLst>
              <a:path extrusionOk="0" h="45037" w="94397">
                <a:moveTo>
                  <a:pt x="22558" y="1"/>
                </a:moveTo>
                <a:cubicBezTo>
                  <a:pt x="10103" y="1"/>
                  <a:pt x="0" y="10103"/>
                  <a:pt x="0" y="22526"/>
                </a:cubicBezTo>
                <a:cubicBezTo>
                  <a:pt x="0" y="34965"/>
                  <a:pt x="10087" y="45036"/>
                  <a:pt x="22510" y="45036"/>
                </a:cubicBezTo>
                <a:cubicBezTo>
                  <a:pt x="23521" y="45036"/>
                  <a:pt x="24531" y="44989"/>
                  <a:pt x="25494" y="44847"/>
                </a:cubicBezTo>
                <a:cubicBezTo>
                  <a:pt x="28966" y="44389"/>
                  <a:pt x="32187" y="43142"/>
                  <a:pt x="34965" y="41295"/>
                </a:cubicBezTo>
                <a:cubicBezTo>
                  <a:pt x="38959" y="38643"/>
                  <a:pt x="42052" y="34760"/>
                  <a:pt x="43710" y="30182"/>
                </a:cubicBezTo>
                <a:cubicBezTo>
                  <a:pt x="44262" y="28619"/>
                  <a:pt x="45730" y="27562"/>
                  <a:pt x="47388" y="27562"/>
                </a:cubicBezTo>
                <a:lnTo>
                  <a:pt x="47483" y="27562"/>
                </a:lnTo>
                <a:cubicBezTo>
                  <a:pt x="48888" y="27562"/>
                  <a:pt x="50103" y="28493"/>
                  <a:pt x="50561" y="29803"/>
                </a:cubicBezTo>
                <a:cubicBezTo>
                  <a:pt x="52218" y="34618"/>
                  <a:pt x="55454" y="38706"/>
                  <a:pt x="59653" y="41437"/>
                </a:cubicBezTo>
                <a:cubicBezTo>
                  <a:pt x="62510" y="43268"/>
                  <a:pt x="65809" y="44484"/>
                  <a:pt x="69361" y="44878"/>
                </a:cubicBezTo>
                <a:cubicBezTo>
                  <a:pt x="70198" y="44989"/>
                  <a:pt x="71034" y="45020"/>
                  <a:pt x="71887" y="45020"/>
                </a:cubicBezTo>
                <a:cubicBezTo>
                  <a:pt x="84325" y="45020"/>
                  <a:pt x="94396" y="34933"/>
                  <a:pt x="94396" y="22510"/>
                </a:cubicBezTo>
                <a:cubicBezTo>
                  <a:pt x="94396" y="10072"/>
                  <a:pt x="84325" y="1"/>
                  <a:pt x="71887" y="1"/>
                </a:cubicBezTo>
                <a:cubicBezTo>
                  <a:pt x="71113" y="1"/>
                  <a:pt x="70387" y="32"/>
                  <a:pt x="69645" y="111"/>
                </a:cubicBezTo>
                <a:cubicBezTo>
                  <a:pt x="65983" y="474"/>
                  <a:pt x="62589" y="1705"/>
                  <a:pt x="59669" y="3600"/>
                </a:cubicBezTo>
                <a:cubicBezTo>
                  <a:pt x="55044" y="6599"/>
                  <a:pt x="51587" y="11256"/>
                  <a:pt x="50119" y="16733"/>
                </a:cubicBezTo>
                <a:cubicBezTo>
                  <a:pt x="49787" y="17948"/>
                  <a:pt x="48730" y="18817"/>
                  <a:pt x="47467" y="18817"/>
                </a:cubicBezTo>
                <a:lnTo>
                  <a:pt x="47419" y="18817"/>
                </a:lnTo>
                <a:cubicBezTo>
                  <a:pt x="45920" y="18817"/>
                  <a:pt x="44641" y="17806"/>
                  <a:pt x="44231" y="16370"/>
                </a:cubicBezTo>
                <a:cubicBezTo>
                  <a:pt x="42747" y="11145"/>
                  <a:pt x="39432" y="6678"/>
                  <a:pt x="35012" y="3742"/>
                </a:cubicBezTo>
                <a:cubicBezTo>
                  <a:pt x="32155" y="1847"/>
                  <a:pt x="28840" y="585"/>
                  <a:pt x="25257" y="143"/>
                </a:cubicBezTo>
                <a:cubicBezTo>
                  <a:pt x="24373" y="48"/>
                  <a:pt x="23473" y="1"/>
                  <a:pt x="22558" y="1"/>
                </a:cubicBezTo>
                <a:close/>
              </a:path>
            </a:pathLst>
          </a:custGeom>
          <a:solidFill>
            <a:srgbClr val="BDE0D9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64"/>
          <p:cNvSpPr/>
          <p:nvPr/>
        </p:nvSpPr>
        <p:spPr>
          <a:xfrm rot="-5400000">
            <a:off x="6747853" y="1526149"/>
            <a:ext cx="2549231" cy="2548393"/>
          </a:xfrm>
          <a:custGeom>
            <a:rect b="b" l="l" r="r" t="t"/>
            <a:pathLst>
              <a:path extrusionOk="0" h="94350" w="94381">
                <a:moveTo>
                  <a:pt x="71508" y="1"/>
                </a:moveTo>
                <a:cubicBezTo>
                  <a:pt x="59069" y="1"/>
                  <a:pt x="48998" y="10072"/>
                  <a:pt x="48998" y="22510"/>
                </a:cubicBezTo>
                <a:cubicBezTo>
                  <a:pt x="48998" y="23521"/>
                  <a:pt x="49045" y="24515"/>
                  <a:pt x="49187" y="25494"/>
                </a:cubicBezTo>
                <a:cubicBezTo>
                  <a:pt x="49645" y="28967"/>
                  <a:pt x="50892" y="32171"/>
                  <a:pt x="52739" y="34965"/>
                </a:cubicBezTo>
                <a:cubicBezTo>
                  <a:pt x="55391" y="38943"/>
                  <a:pt x="59274" y="42037"/>
                  <a:pt x="63852" y="43694"/>
                </a:cubicBezTo>
                <a:cubicBezTo>
                  <a:pt x="65414" y="44278"/>
                  <a:pt x="66472" y="45715"/>
                  <a:pt x="66472" y="47372"/>
                </a:cubicBezTo>
                <a:lnTo>
                  <a:pt x="66472" y="47404"/>
                </a:lnTo>
                <a:lnTo>
                  <a:pt x="66472" y="47467"/>
                </a:lnTo>
                <a:cubicBezTo>
                  <a:pt x="66472" y="48872"/>
                  <a:pt x="65557" y="50087"/>
                  <a:pt x="64231" y="50545"/>
                </a:cubicBezTo>
                <a:cubicBezTo>
                  <a:pt x="59416" y="52203"/>
                  <a:pt x="55328" y="55439"/>
                  <a:pt x="52613" y="59637"/>
                </a:cubicBezTo>
                <a:cubicBezTo>
                  <a:pt x="51287" y="61674"/>
                  <a:pt x="50276" y="63947"/>
                  <a:pt x="49692" y="66378"/>
                </a:cubicBezTo>
                <a:cubicBezTo>
                  <a:pt x="49424" y="67420"/>
                  <a:pt x="48508" y="68146"/>
                  <a:pt x="47419" y="68146"/>
                </a:cubicBezTo>
                <a:lnTo>
                  <a:pt x="47372" y="68146"/>
                </a:lnTo>
                <a:cubicBezTo>
                  <a:pt x="45888" y="68146"/>
                  <a:pt x="44594" y="67136"/>
                  <a:pt x="44183" y="65699"/>
                </a:cubicBezTo>
                <a:cubicBezTo>
                  <a:pt x="42699" y="60474"/>
                  <a:pt x="39385" y="56007"/>
                  <a:pt x="34965" y="53071"/>
                </a:cubicBezTo>
                <a:cubicBezTo>
                  <a:pt x="32108" y="51177"/>
                  <a:pt x="28793" y="49914"/>
                  <a:pt x="25209" y="49488"/>
                </a:cubicBezTo>
                <a:cubicBezTo>
                  <a:pt x="24325" y="49377"/>
                  <a:pt x="23426" y="49330"/>
                  <a:pt x="22510" y="49330"/>
                </a:cubicBezTo>
                <a:cubicBezTo>
                  <a:pt x="10087" y="49330"/>
                  <a:pt x="0" y="59416"/>
                  <a:pt x="0" y="71840"/>
                </a:cubicBezTo>
                <a:cubicBezTo>
                  <a:pt x="0" y="84278"/>
                  <a:pt x="10087" y="94349"/>
                  <a:pt x="22510" y="94349"/>
                </a:cubicBezTo>
                <a:cubicBezTo>
                  <a:pt x="23520" y="94349"/>
                  <a:pt x="24531" y="94302"/>
                  <a:pt x="25493" y="94160"/>
                </a:cubicBezTo>
                <a:cubicBezTo>
                  <a:pt x="28966" y="93702"/>
                  <a:pt x="32186" y="92455"/>
                  <a:pt x="34965" y="90608"/>
                </a:cubicBezTo>
                <a:cubicBezTo>
                  <a:pt x="38943" y="87956"/>
                  <a:pt x="42052" y="84073"/>
                  <a:pt x="43710" y="79495"/>
                </a:cubicBezTo>
                <a:cubicBezTo>
                  <a:pt x="44278" y="77933"/>
                  <a:pt x="45714" y="76875"/>
                  <a:pt x="47372" y="76875"/>
                </a:cubicBezTo>
                <a:lnTo>
                  <a:pt x="47435" y="76875"/>
                </a:lnTo>
                <a:cubicBezTo>
                  <a:pt x="48682" y="76875"/>
                  <a:pt x="49740" y="77680"/>
                  <a:pt x="50134" y="78864"/>
                </a:cubicBezTo>
                <a:cubicBezTo>
                  <a:pt x="53102" y="87862"/>
                  <a:pt x="61563" y="94349"/>
                  <a:pt x="71555" y="94349"/>
                </a:cubicBezTo>
                <a:lnTo>
                  <a:pt x="71871" y="94349"/>
                </a:lnTo>
                <a:cubicBezTo>
                  <a:pt x="84294" y="94349"/>
                  <a:pt x="94380" y="84278"/>
                  <a:pt x="94380" y="71840"/>
                </a:cubicBezTo>
                <a:cubicBezTo>
                  <a:pt x="94317" y="61279"/>
                  <a:pt x="87056" y="52408"/>
                  <a:pt x="77253" y="49977"/>
                </a:cubicBezTo>
                <a:cubicBezTo>
                  <a:pt x="76070" y="49677"/>
                  <a:pt x="75201" y="48635"/>
                  <a:pt x="75201" y="47420"/>
                </a:cubicBezTo>
                <a:lnTo>
                  <a:pt x="75201" y="47388"/>
                </a:lnTo>
                <a:lnTo>
                  <a:pt x="75201" y="47372"/>
                </a:lnTo>
                <a:cubicBezTo>
                  <a:pt x="75201" y="45888"/>
                  <a:pt x="76212" y="44594"/>
                  <a:pt x="77648" y="44168"/>
                </a:cubicBezTo>
                <a:cubicBezTo>
                  <a:pt x="82873" y="42700"/>
                  <a:pt x="87340" y="39385"/>
                  <a:pt x="90276" y="34965"/>
                </a:cubicBezTo>
                <a:cubicBezTo>
                  <a:pt x="92171" y="32092"/>
                  <a:pt x="93433" y="28777"/>
                  <a:pt x="93860" y="25210"/>
                </a:cubicBezTo>
                <a:cubicBezTo>
                  <a:pt x="93970" y="24326"/>
                  <a:pt x="94017" y="23410"/>
                  <a:pt x="94017" y="22510"/>
                </a:cubicBezTo>
                <a:cubicBezTo>
                  <a:pt x="94017" y="10072"/>
                  <a:pt x="83946" y="1"/>
                  <a:pt x="7150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64"/>
          <p:cNvSpPr/>
          <p:nvPr/>
        </p:nvSpPr>
        <p:spPr>
          <a:xfrm>
            <a:off x="1289225" y="1636463"/>
            <a:ext cx="1049400" cy="1049400"/>
          </a:xfrm>
          <a:prstGeom prst="arc">
            <a:avLst>
              <a:gd fmla="val 16200000" name="adj1"/>
              <a:gd fmla="val 7125814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64"/>
          <p:cNvSpPr/>
          <p:nvPr/>
        </p:nvSpPr>
        <p:spPr>
          <a:xfrm>
            <a:off x="4049101" y="1634424"/>
            <a:ext cx="1122600" cy="1122600"/>
          </a:xfrm>
          <a:prstGeom prst="arc">
            <a:avLst>
              <a:gd fmla="val 16200000" name="adj1"/>
              <a:gd fmla="val 10900291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64"/>
          <p:cNvSpPr/>
          <p:nvPr/>
        </p:nvSpPr>
        <p:spPr>
          <a:xfrm rot="7212486">
            <a:off x="6805364" y="1636318"/>
            <a:ext cx="1049405" cy="1049405"/>
          </a:xfrm>
          <a:prstGeom prst="arc">
            <a:avLst>
              <a:gd fmla="val 16200000" name="adj1"/>
              <a:gd fmla="val 2232345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64"/>
          <p:cNvSpPr txBox="1"/>
          <p:nvPr>
            <p:ph type="title"/>
          </p:nvPr>
        </p:nvSpPr>
        <p:spPr>
          <a:xfrm>
            <a:off x="873450" y="549075"/>
            <a:ext cx="73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72A1E"/>
                </a:solidFill>
              </a:rPr>
              <a:t>Key A</a:t>
            </a:r>
            <a:r>
              <a:rPr lang="en">
                <a:solidFill>
                  <a:srgbClr val="A72A1E"/>
                </a:solidFill>
              </a:rPr>
              <a:t>ccomplishments</a:t>
            </a:r>
            <a:endParaRPr>
              <a:solidFill>
                <a:srgbClr val="A72A1E"/>
              </a:solidFill>
            </a:endParaRPr>
          </a:p>
        </p:txBody>
      </p:sp>
      <p:sp>
        <p:nvSpPr>
          <p:cNvPr id="746" name="Google Shape;746;p64"/>
          <p:cNvSpPr txBox="1"/>
          <p:nvPr>
            <p:ph idx="2" type="body"/>
          </p:nvPr>
        </p:nvSpPr>
        <p:spPr>
          <a:xfrm>
            <a:off x="3261900" y="3142650"/>
            <a:ext cx="2562600" cy="8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Josefin Sans Medium"/>
                <a:ea typeface="Josefin Sans Medium"/>
                <a:cs typeface="Josefin Sans Medium"/>
                <a:sym typeface="Josefin Sans Medium"/>
              </a:rPr>
              <a:t>Improved the classification of the early stages</a:t>
            </a:r>
            <a:endParaRPr>
              <a:latin typeface="Josefin Sans Medium"/>
              <a:ea typeface="Josefin Sans Medium"/>
              <a:cs typeface="Josefin Sans Medium"/>
              <a:sym typeface="Josefin Sans Medium"/>
            </a:endParaRPr>
          </a:p>
        </p:txBody>
      </p:sp>
      <p:sp>
        <p:nvSpPr>
          <p:cNvPr id="747" name="Google Shape;747;p64"/>
          <p:cNvSpPr txBox="1"/>
          <p:nvPr>
            <p:ph idx="4" type="body"/>
          </p:nvPr>
        </p:nvSpPr>
        <p:spPr>
          <a:xfrm>
            <a:off x="711274" y="3142650"/>
            <a:ext cx="2205300" cy="8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leveraged the potential of morphological filters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748" name="Google Shape;748;p64"/>
          <p:cNvSpPr txBox="1"/>
          <p:nvPr>
            <p:ph idx="6" type="body"/>
          </p:nvPr>
        </p:nvSpPr>
        <p:spPr>
          <a:xfrm>
            <a:off x="6169837" y="3142650"/>
            <a:ext cx="2320500" cy="8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Josefin Sans"/>
                <a:ea typeface="Josefin Sans"/>
                <a:cs typeface="Josefin Sans"/>
                <a:sym typeface="Josefin Sans"/>
              </a:rPr>
              <a:t>Explored promising preprocessing techniques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749" name="Google Shape;749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0" name="Google Shape;75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575" y="1886824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1924" y="1809500"/>
            <a:ext cx="703325" cy="7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950" y="1765476"/>
            <a:ext cx="764600" cy="76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5"/>
          <p:cNvSpPr txBox="1"/>
          <p:nvPr>
            <p:ph idx="6" type="body"/>
          </p:nvPr>
        </p:nvSpPr>
        <p:spPr>
          <a:xfrm>
            <a:off x="5933025" y="1513200"/>
            <a:ext cx="24564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latin typeface="Josefin Sans"/>
                <a:ea typeface="Josefin Sans"/>
                <a:cs typeface="Josefin Sans"/>
                <a:sym typeface="Josefin Sans"/>
              </a:rPr>
              <a:t>Overfitting and plateau </a:t>
            </a:r>
            <a:r>
              <a:rPr lang="en" sz="1800">
                <a:latin typeface="Josefin Sans"/>
                <a:ea typeface="Josefin Sans"/>
                <a:cs typeface="Josefin Sans"/>
                <a:sym typeface="Josefin Sans"/>
              </a:rPr>
              <a:t>phenomenon</a:t>
            </a:r>
            <a:endParaRPr/>
          </a:p>
        </p:txBody>
      </p:sp>
      <p:sp>
        <p:nvSpPr>
          <p:cNvPr id="758" name="Google Shape;758;p65"/>
          <p:cNvSpPr txBox="1"/>
          <p:nvPr>
            <p:ph idx="4" type="body"/>
          </p:nvPr>
        </p:nvSpPr>
        <p:spPr>
          <a:xfrm>
            <a:off x="2073625" y="3281577"/>
            <a:ext cx="2339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latin typeface="Josefin Sans"/>
                <a:ea typeface="Josefin Sans"/>
                <a:cs typeface="Josefin Sans"/>
                <a:sym typeface="Josefin Sans"/>
              </a:rPr>
              <a:t>High feature similarity of No_dr and Mild stages</a:t>
            </a:r>
            <a:endParaRPr sz="1800"/>
          </a:p>
        </p:txBody>
      </p:sp>
      <p:sp>
        <p:nvSpPr>
          <p:cNvPr id="759" name="Google Shape;759;p65"/>
          <p:cNvSpPr/>
          <p:nvPr/>
        </p:nvSpPr>
        <p:spPr>
          <a:xfrm>
            <a:off x="4605718" y="3222541"/>
            <a:ext cx="1216200" cy="1216200"/>
          </a:xfrm>
          <a:prstGeom prst="ellipse">
            <a:avLst/>
          </a:prstGeom>
          <a:solidFill>
            <a:srgbClr val="FCDF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65"/>
          <p:cNvSpPr/>
          <p:nvPr/>
        </p:nvSpPr>
        <p:spPr>
          <a:xfrm rot="10800000">
            <a:off x="4605723" y="108250"/>
            <a:ext cx="2549231" cy="2548394"/>
          </a:xfrm>
          <a:custGeom>
            <a:rect b="b" l="l" r="r" t="t"/>
            <a:pathLst>
              <a:path extrusionOk="0" h="94350" w="94381">
                <a:moveTo>
                  <a:pt x="71508" y="1"/>
                </a:moveTo>
                <a:cubicBezTo>
                  <a:pt x="59069" y="1"/>
                  <a:pt x="48998" y="10072"/>
                  <a:pt x="48998" y="22510"/>
                </a:cubicBezTo>
                <a:cubicBezTo>
                  <a:pt x="48998" y="23521"/>
                  <a:pt x="49045" y="24515"/>
                  <a:pt x="49187" y="25494"/>
                </a:cubicBezTo>
                <a:cubicBezTo>
                  <a:pt x="49645" y="28967"/>
                  <a:pt x="50892" y="32171"/>
                  <a:pt x="52739" y="34965"/>
                </a:cubicBezTo>
                <a:cubicBezTo>
                  <a:pt x="55391" y="38943"/>
                  <a:pt x="59274" y="42037"/>
                  <a:pt x="63852" y="43694"/>
                </a:cubicBezTo>
                <a:cubicBezTo>
                  <a:pt x="65414" y="44278"/>
                  <a:pt x="66472" y="45715"/>
                  <a:pt x="66472" y="47372"/>
                </a:cubicBezTo>
                <a:lnTo>
                  <a:pt x="66472" y="47404"/>
                </a:lnTo>
                <a:lnTo>
                  <a:pt x="66472" y="47467"/>
                </a:lnTo>
                <a:cubicBezTo>
                  <a:pt x="66472" y="48872"/>
                  <a:pt x="65557" y="50087"/>
                  <a:pt x="64231" y="50545"/>
                </a:cubicBezTo>
                <a:cubicBezTo>
                  <a:pt x="59416" y="52203"/>
                  <a:pt x="55328" y="55439"/>
                  <a:pt x="52613" y="59637"/>
                </a:cubicBezTo>
                <a:cubicBezTo>
                  <a:pt x="51287" y="61674"/>
                  <a:pt x="50276" y="63947"/>
                  <a:pt x="49692" y="66378"/>
                </a:cubicBezTo>
                <a:cubicBezTo>
                  <a:pt x="49424" y="67420"/>
                  <a:pt x="48508" y="68146"/>
                  <a:pt x="47419" y="68146"/>
                </a:cubicBezTo>
                <a:lnTo>
                  <a:pt x="47372" y="68146"/>
                </a:lnTo>
                <a:cubicBezTo>
                  <a:pt x="45888" y="68146"/>
                  <a:pt x="44594" y="67136"/>
                  <a:pt x="44183" y="65699"/>
                </a:cubicBezTo>
                <a:cubicBezTo>
                  <a:pt x="42699" y="60474"/>
                  <a:pt x="39385" y="56007"/>
                  <a:pt x="34965" y="53071"/>
                </a:cubicBezTo>
                <a:cubicBezTo>
                  <a:pt x="32108" y="51177"/>
                  <a:pt x="28793" y="49914"/>
                  <a:pt x="25209" y="49488"/>
                </a:cubicBezTo>
                <a:cubicBezTo>
                  <a:pt x="24325" y="49377"/>
                  <a:pt x="23426" y="49330"/>
                  <a:pt x="22510" y="49330"/>
                </a:cubicBezTo>
                <a:cubicBezTo>
                  <a:pt x="10087" y="49330"/>
                  <a:pt x="0" y="59416"/>
                  <a:pt x="0" y="71840"/>
                </a:cubicBezTo>
                <a:cubicBezTo>
                  <a:pt x="0" y="84278"/>
                  <a:pt x="10087" y="94349"/>
                  <a:pt x="22510" y="94349"/>
                </a:cubicBezTo>
                <a:cubicBezTo>
                  <a:pt x="23520" y="94349"/>
                  <a:pt x="24531" y="94302"/>
                  <a:pt x="25493" y="94160"/>
                </a:cubicBezTo>
                <a:cubicBezTo>
                  <a:pt x="28966" y="93702"/>
                  <a:pt x="32186" y="92455"/>
                  <a:pt x="34965" y="90608"/>
                </a:cubicBezTo>
                <a:cubicBezTo>
                  <a:pt x="38943" y="87956"/>
                  <a:pt x="42052" y="84073"/>
                  <a:pt x="43710" y="79495"/>
                </a:cubicBezTo>
                <a:cubicBezTo>
                  <a:pt x="44278" y="77933"/>
                  <a:pt x="45714" y="76875"/>
                  <a:pt x="47372" y="76875"/>
                </a:cubicBezTo>
                <a:lnTo>
                  <a:pt x="47435" y="76875"/>
                </a:lnTo>
                <a:cubicBezTo>
                  <a:pt x="48682" y="76875"/>
                  <a:pt x="49740" y="77680"/>
                  <a:pt x="50134" y="78864"/>
                </a:cubicBezTo>
                <a:cubicBezTo>
                  <a:pt x="53102" y="87862"/>
                  <a:pt x="61563" y="94349"/>
                  <a:pt x="71555" y="94349"/>
                </a:cubicBezTo>
                <a:lnTo>
                  <a:pt x="71871" y="94349"/>
                </a:lnTo>
                <a:cubicBezTo>
                  <a:pt x="84294" y="94349"/>
                  <a:pt x="94380" y="84278"/>
                  <a:pt x="94380" y="71840"/>
                </a:cubicBezTo>
                <a:cubicBezTo>
                  <a:pt x="94317" y="61279"/>
                  <a:pt x="87056" y="52408"/>
                  <a:pt x="77253" y="49977"/>
                </a:cubicBezTo>
                <a:cubicBezTo>
                  <a:pt x="76070" y="49677"/>
                  <a:pt x="75201" y="48635"/>
                  <a:pt x="75201" y="47420"/>
                </a:cubicBezTo>
                <a:lnTo>
                  <a:pt x="75201" y="47388"/>
                </a:lnTo>
                <a:lnTo>
                  <a:pt x="75201" y="47372"/>
                </a:lnTo>
                <a:cubicBezTo>
                  <a:pt x="75201" y="45888"/>
                  <a:pt x="76212" y="44594"/>
                  <a:pt x="77648" y="44168"/>
                </a:cubicBezTo>
                <a:cubicBezTo>
                  <a:pt x="82873" y="42700"/>
                  <a:pt x="87340" y="39385"/>
                  <a:pt x="90276" y="34965"/>
                </a:cubicBezTo>
                <a:cubicBezTo>
                  <a:pt x="92171" y="32092"/>
                  <a:pt x="93433" y="28777"/>
                  <a:pt x="93860" y="25210"/>
                </a:cubicBezTo>
                <a:cubicBezTo>
                  <a:pt x="93970" y="24326"/>
                  <a:pt x="94017" y="23410"/>
                  <a:pt x="94017" y="22510"/>
                </a:cubicBezTo>
                <a:cubicBezTo>
                  <a:pt x="94017" y="10072"/>
                  <a:pt x="83946" y="1"/>
                  <a:pt x="71508" y="1"/>
                </a:cubicBezTo>
                <a:close/>
              </a:path>
            </a:pathLst>
          </a:custGeom>
          <a:solidFill>
            <a:srgbClr val="BDE0D9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65"/>
          <p:cNvSpPr/>
          <p:nvPr/>
        </p:nvSpPr>
        <p:spPr>
          <a:xfrm rot="-5400000">
            <a:off x="-531193" y="3219333"/>
            <a:ext cx="2531755" cy="2538157"/>
          </a:xfrm>
          <a:custGeom>
            <a:rect b="b" l="l" r="r" t="t"/>
            <a:pathLst>
              <a:path extrusionOk="0" h="93971" w="93734">
                <a:moveTo>
                  <a:pt x="22037" y="0"/>
                </a:moveTo>
                <a:cubicBezTo>
                  <a:pt x="16417" y="142"/>
                  <a:pt x="11287" y="2352"/>
                  <a:pt x="7388" y="5888"/>
                </a:cubicBezTo>
                <a:cubicBezTo>
                  <a:pt x="7135" y="6125"/>
                  <a:pt x="6883" y="6362"/>
                  <a:pt x="6646" y="6583"/>
                </a:cubicBezTo>
                <a:cubicBezTo>
                  <a:pt x="6472" y="6772"/>
                  <a:pt x="6283" y="6946"/>
                  <a:pt x="6125" y="7120"/>
                </a:cubicBezTo>
                <a:cubicBezTo>
                  <a:pt x="2431" y="11050"/>
                  <a:pt x="158" y="16322"/>
                  <a:pt x="0" y="22100"/>
                </a:cubicBezTo>
                <a:lnTo>
                  <a:pt x="0" y="22700"/>
                </a:lnTo>
                <a:cubicBezTo>
                  <a:pt x="0" y="35217"/>
                  <a:pt x="10087" y="45383"/>
                  <a:pt x="22542" y="45383"/>
                </a:cubicBezTo>
                <a:lnTo>
                  <a:pt x="22779" y="45383"/>
                </a:lnTo>
                <a:cubicBezTo>
                  <a:pt x="23473" y="45383"/>
                  <a:pt x="24168" y="45352"/>
                  <a:pt x="24846" y="45257"/>
                </a:cubicBezTo>
                <a:cubicBezTo>
                  <a:pt x="25746" y="45162"/>
                  <a:pt x="26614" y="45036"/>
                  <a:pt x="27451" y="44831"/>
                </a:cubicBezTo>
                <a:cubicBezTo>
                  <a:pt x="28600" y="44578"/>
                  <a:pt x="29772" y="44433"/>
                  <a:pt x="30943" y="44433"/>
                </a:cubicBezTo>
                <a:cubicBezTo>
                  <a:pt x="31671" y="44433"/>
                  <a:pt x="32398" y="44489"/>
                  <a:pt x="33118" y="44610"/>
                </a:cubicBezTo>
                <a:cubicBezTo>
                  <a:pt x="35975" y="45099"/>
                  <a:pt x="38722" y="46393"/>
                  <a:pt x="41374" y="48382"/>
                </a:cubicBezTo>
                <a:cubicBezTo>
                  <a:pt x="47119" y="52723"/>
                  <a:pt x="49614" y="59890"/>
                  <a:pt x="48651" y="67088"/>
                </a:cubicBezTo>
                <a:cubicBezTo>
                  <a:pt x="48603" y="67341"/>
                  <a:pt x="48603" y="67625"/>
                  <a:pt x="48603" y="67877"/>
                </a:cubicBezTo>
                <a:cubicBezTo>
                  <a:pt x="48635" y="68051"/>
                  <a:pt x="48603" y="68256"/>
                  <a:pt x="48587" y="68430"/>
                </a:cubicBezTo>
                <a:cubicBezTo>
                  <a:pt x="48477" y="69377"/>
                  <a:pt x="48414" y="70340"/>
                  <a:pt x="48414" y="71318"/>
                </a:cubicBezTo>
                <a:cubicBezTo>
                  <a:pt x="48414" y="75438"/>
                  <a:pt x="49519" y="79306"/>
                  <a:pt x="51445" y="82636"/>
                </a:cubicBezTo>
                <a:cubicBezTo>
                  <a:pt x="54712" y="88303"/>
                  <a:pt x="60332" y="92408"/>
                  <a:pt x="67040" y="93607"/>
                </a:cubicBezTo>
                <a:lnTo>
                  <a:pt x="67072" y="93607"/>
                </a:lnTo>
                <a:cubicBezTo>
                  <a:pt x="67214" y="93623"/>
                  <a:pt x="67372" y="93670"/>
                  <a:pt x="67514" y="93686"/>
                </a:cubicBezTo>
                <a:cubicBezTo>
                  <a:pt x="67577" y="93686"/>
                  <a:pt x="67609" y="93702"/>
                  <a:pt x="67672" y="93702"/>
                </a:cubicBezTo>
                <a:cubicBezTo>
                  <a:pt x="67782" y="93734"/>
                  <a:pt x="67893" y="93749"/>
                  <a:pt x="68003" y="93749"/>
                </a:cubicBezTo>
                <a:cubicBezTo>
                  <a:pt x="68098" y="93765"/>
                  <a:pt x="68177" y="93765"/>
                  <a:pt x="68288" y="93781"/>
                </a:cubicBezTo>
                <a:cubicBezTo>
                  <a:pt x="68366" y="93812"/>
                  <a:pt x="68445" y="93812"/>
                  <a:pt x="68524" y="93812"/>
                </a:cubicBezTo>
                <a:cubicBezTo>
                  <a:pt x="68635" y="93828"/>
                  <a:pt x="68761" y="93828"/>
                  <a:pt x="68872" y="93844"/>
                </a:cubicBezTo>
                <a:cubicBezTo>
                  <a:pt x="68935" y="93844"/>
                  <a:pt x="68998" y="93860"/>
                  <a:pt x="69077" y="93860"/>
                </a:cubicBezTo>
                <a:cubicBezTo>
                  <a:pt x="69203" y="93891"/>
                  <a:pt x="69329" y="93891"/>
                  <a:pt x="69471" y="93907"/>
                </a:cubicBezTo>
                <a:cubicBezTo>
                  <a:pt x="69519" y="93907"/>
                  <a:pt x="69582" y="93907"/>
                  <a:pt x="69645" y="93923"/>
                </a:cubicBezTo>
                <a:cubicBezTo>
                  <a:pt x="69787" y="93923"/>
                  <a:pt x="69913" y="93939"/>
                  <a:pt x="70055" y="93939"/>
                </a:cubicBezTo>
                <a:lnTo>
                  <a:pt x="70229" y="93939"/>
                </a:lnTo>
                <a:cubicBezTo>
                  <a:pt x="70371" y="93939"/>
                  <a:pt x="70497" y="93939"/>
                  <a:pt x="70624" y="93970"/>
                </a:cubicBezTo>
                <a:lnTo>
                  <a:pt x="71729" y="93970"/>
                </a:lnTo>
                <a:cubicBezTo>
                  <a:pt x="71871" y="93970"/>
                  <a:pt x="72013" y="93970"/>
                  <a:pt x="72155" y="93939"/>
                </a:cubicBezTo>
                <a:lnTo>
                  <a:pt x="72281" y="93939"/>
                </a:lnTo>
                <a:cubicBezTo>
                  <a:pt x="72439" y="93939"/>
                  <a:pt x="72628" y="93923"/>
                  <a:pt x="72786" y="93907"/>
                </a:cubicBezTo>
                <a:lnTo>
                  <a:pt x="72834" y="93907"/>
                </a:lnTo>
                <a:cubicBezTo>
                  <a:pt x="84515" y="93023"/>
                  <a:pt x="93733" y="83252"/>
                  <a:pt x="93733" y="71334"/>
                </a:cubicBezTo>
                <a:lnTo>
                  <a:pt x="93733" y="71334"/>
                </a:lnTo>
                <a:cubicBezTo>
                  <a:pt x="93724" y="71353"/>
                  <a:pt x="93720" y="71360"/>
                  <a:pt x="93719" y="71360"/>
                </a:cubicBezTo>
                <a:cubicBezTo>
                  <a:pt x="93718" y="71360"/>
                  <a:pt x="93718" y="71357"/>
                  <a:pt x="93718" y="71350"/>
                </a:cubicBezTo>
                <a:cubicBezTo>
                  <a:pt x="93718" y="58848"/>
                  <a:pt x="83583" y="48698"/>
                  <a:pt x="71066" y="48698"/>
                </a:cubicBezTo>
                <a:cubicBezTo>
                  <a:pt x="69519" y="48698"/>
                  <a:pt x="68003" y="48856"/>
                  <a:pt x="66567" y="49156"/>
                </a:cubicBezTo>
                <a:cubicBezTo>
                  <a:pt x="65346" y="49398"/>
                  <a:pt x="64102" y="49540"/>
                  <a:pt x="62857" y="49540"/>
                </a:cubicBezTo>
                <a:cubicBezTo>
                  <a:pt x="62315" y="49540"/>
                  <a:pt x="61772" y="49513"/>
                  <a:pt x="61232" y="49456"/>
                </a:cubicBezTo>
                <a:cubicBezTo>
                  <a:pt x="57964" y="49093"/>
                  <a:pt x="54807" y="47909"/>
                  <a:pt x="52060" y="45841"/>
                </a:cubicBezTo>
                <a:cubicBezTo>
                  <a:pt x="46425" y="41579"/>
                  <a:pt x="43915" y="34586"/>
                  <a:pt x="44720" y="27483"/>
                </a:cubicBezTo>
                <a:cubicBezTo>
                  <a:pt x="44799" y="26741"/>
                  <a:pt x="44941" y="25983"/>
                  <a:pt x="45099" y="25225"/>
                </a:cubicBezTo>
                <a:cubicBezTo>
                  <a:pt x="45194" y="24373"/>
                  <a:pt x="45257" y="23489"/>
                  <a:pt x="45257" y="22621"/>
                </a:cubicBezTo>
                <a:cubicBezTo>
                  <a:pt x="45257" y="10119"/>
                  <a:pt x="35123" y="0"/>
                  <a:pt x="22621" y="0"/>
                </a:cubicBezTo>
                <a:close/>
              </a:path>
            </a:pathLst>
          </a:custGeom>
          <a:solidFill>
            <a:srgbClr val="B8E5FA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65"/>
          <p:cNvSpPr/>
          <p:nvPr/>
        </p:nvSpPr>
        <p:spPr>
          <a:xfrm>
            <a:off x="787570" y="1440445"/>
            <a:ext cx="1216200" cy="1216200"/>
          </a:xfrm>
          <a:prstGeom prst="ellipse">
            <a:avLst/>
          </a:prstGeom>
          <a:solidFill>
            <a:srgbClr val="ED3247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65"/>
          <p:cNvSpPr txBox="1"/>
          <p:nvPr>
            <p:ph type="title"/>
          </p:nvPr>
        </p:nvSpPr>
        <p:spPr>
          <a:xfrm>
            <a:off x="1200125" y="549075"/>
            <a:ext cx="72123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72A1E"/>
                </a:solidFill>
              </a:rPr>
              <a:t>Challenges</a:t>
            </a:r>
            <a:endParaRPr>
              <a:solidFill>
                <a:srgbClr val="A72A1E"/>
              </a:solidFill>
            </a:endParaRPr>
          </a:p>
        </p:txBody>
      </p:sp>
      <p:sp>
        <p:nvSpPr>
          <p:cNvPr id="764" name="Google Shape;764;p65"/>
          <p:cNvSpPr txBox="1"/>
          <p:nvPr>
            <p:ph idx="1" type="subTitle"/>
          </p:nvPr>
        </p:nvSpPr>
        <p:spPr>
          <a:xfrm>
            <a:off x="2073625" y="1380142"/>
            <a:ext cx="2339400" cy="1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800"/>
              <a:t>Data imbalance, small representation of some classes</a:t>
            </a:r>
            <a:endParaRPr b="0" sz="1800"/>
          </a:p>
        </p:txBody>
      </p:sp>
      <p:sp>
        <p:nvSpPr>
          <p:cNvPr id="765" name="Google Shape;765;p65"/>
          <p:cNvSpPr txBox="1"/>
          <p:nvPr>
            <p:ph idx="8" type="body"/>
          </p:nvPr>
        </p:nvSpPr>
        <p:spPr>
          <a:xfrm>
            <a:off x="6014625" y="3281577"/>
            <a:ext cx="22932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efin Sans"/>
                <a:ea typeface="Josefin Sans"/>
                <a:cs typeface="Josefin Sans"/>
                <a:sym typeface="Josefin Sans"/>
              </a:rPr>
              <a:t>Limited computational resources like GPU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766" name="Google Shape;766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6"/>
          <p:cNvSpPr txBox="1"/>
          <p:nvPr>
            <p:ph type="title"/>
          </p:nvPr>
        </p:nvSpPr>
        <p:spPr>
          <a:xfrm>
            <a:off x="873450" y="438050"/>
            <a:ext cx="7397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72A1E"/>
                </a:solidFill>
              </a:rPr>
              <a:t>Future work</a:t>
            </a:r>
            <a:endParaRPr>
              <a:solidFill>
                <a:srgbClr val="A72A1E"/>
              </a:solidFill>
            </a:endParaRPr>
          </a:p>
        </p:txBody>
      </p:sp>
      <p:sp>
        <p:nvSpPr>
          <p:cNvPr id="772" name="Google Shape;772;p66"/>
          <p:cNvSpPr/>
          <p:nvPr/>
        </p:nvSpPr>
        <p:spPr>
          <a:xfrm rot="-5400000">
            <a:off x="7751216" y="-1204205"/>
            <a:ext cx="2531755" cy="2538157"/>
          </a:xfrm>
          <a:custGeom>
            <a:rect b="b" l="l" r="r" t="t"/>
            <a:pathLst>
              <a:path extrusionOk="0" h="93971" w="93734">
                <a:moveTo>
                  <a:pt x="22037" y="0"/>
                </a:moveTo>
                <a:cubicBezTo>
                  <a:pt x="16417" y="142"/>
                  <a:pt x="11287" y="2352"/>
                  <a:pt x="7388" y="5888"/>
                </a:cubicBezTo>
                <a:cubicBezTo>
                  <a:pt x="7135" y="6125"/>
                  <a:pt x="6883" y="6362"/>
                  <a:pt x="6646" y="6583"/>
                </a:cubicBezTo>
                <a:cubicBezTo>
                  <a:pt x="6472" y="6772"/>
                  <a:pt x="6283" y="6946"/>
                  <a:pt x="6125" y="7120"/>
                </a:cubicBezTo>
                <a:cubicBezTo>
                  <a:pt x="2431" y="11050"/>
                  <a:pt x="158" y="16322"/>
                  <a:pt x="0" y="22100"/>
                </a:cubicBezTo>
                <a:lnTo>
                  <a:pt x="0" y="22700"/>
                </a:lnTo>
                <a:cubicBezTo>
                  <a:pt x="0" y="35217"/>
                  <a:pt x="10087" y="45383"/>
                  <a:pt x="22542" y="45383"/>
                </a:cubicBezTo>
                <a:lnTo>
                  <a:pt x="22779" y="45383"/>
                </a:lnTo>
                <a:cubicBezTo>
                  <a:pt x="23473" y="45383"/>
                  <a:pt x="24168" y="45352"/>
                  <a:pt x="24846" y="45257"/>
                </a:cubicBezTo>
                <a:cubicBezTo>
                  <a:pt x="25746" y="45162"/>
                  <a:pt x="26614" y="45036"/>
                  <a:pt x="27451" y="44831"/>
                </a:cubicBezTo>
                <a:cubicBezTo>
                  <a:pt x="28600" y="44578"/>
                  <a:pt x="29772" y="44433"/>
                  <a:pt x="30943" y="44433"/>
                </a:cubicBezTo>
                <a:cubicBezTo>
                  <a:pt x="31671" y="44433"/>
                  <a:pt x="32398" y="44489"/>
                  <a:pt x="33118" y="44610"/>
                </a:cubicBezTo>
                <a:cubicBezTo>
                  <a:pt x="35975" y="45099"/>
                  <a:pt x="38722" y="46393"/>
                  <a:pt x="41374" y="48382"/>
                </a:cubicBezTo>
                <a:cubicBezTo>
                  <a:pt x="47119" y="52723"/>
                  <a:pt x="49614" y="59890"/>
                  <a:pt x="48651" y="67088"/>
                </a:cubicBezTo>
                <a:cubicBezTo>
                  <a:pt x="48603" y="67341"/>
                  <a:pt x="48603" y="67625"/>
                  <a:pt x="48603" y="67877"/>
                </a:cubicBezTo>
                <a:cubicBezTo>
                  <a:pt x="48635" y="68051"/>
                  <a:pt x="48603" y="68256"/>
                  <a:pt x="48587" y="68430"/>
                </a:cubicBezTo>
                <a:cubicBezTo>
                  <a:pt x="48477" y="69377"/>
                  <a:pt x="48414" y="70340"/>
                  <a:pt x="48414" y="71318"/>
                </a:cubicBezTo>
                <a:cubicBezTo>
                  <a:pt x="48414" y="75438"/>
                  <a:pt x="49519" y="79306"/>
                  <a:pt x="51445" y="82636"/>
                </a:cubicBezTo>
                <a:cubicBezTo>
                  <a:pt x="54712" y="88303"/>
                  <a:pt x="60332" y="92408"/>
                  <a:pt x="67040" y="93607"/>
                </a:cubicBezTo>
                <a:lnTo>
                  <a:pt x="67072" y="93607"/>
                </a:lnTo>
                <a:cubicBezTo>
                  <a:pt x="67214" y="93623"/>
                  <a:pt x="67372" y="93670"/>
                  <a:pt x="67514" y="93686"/>
                </a:cubicBezTo>
                <a:cubicBezTo>
                  <a:pt x="67577" y="93686"/>
                  <a:pt x="67609" y="93702"/>
                  <a:pt x="67672" y="93702"/>
                </a:cubicBezTo>
                <a:cubicBezTo>
                  <a:pt x="67782" y="93734"/>
                  <a:pt x="67893" y="93749"/>
                  <a:pt x="68003" y="93749"/>
                </a:cubicBezTo>
                <a:cubicBezTo>
                  <a:pt x="68098" y="93765"/>
                  <a:pt x="68177" y="93765"/>
                  <a:pt x="68288" y="93781"/>
                </a:cubicBezTo>
                <a:cubicBezTo>
                  <a:pt x="68366" y="93812"/>
                  <a:pt x="68445" y="93812"/>
                  <a:pt x="68524" y="93812"/>
                </a:cubicBezTo>
                <a:cubicBezTo>
                  <a:pt x="68635" y="93828"/>
                  <a:pt x="68761" y="93828"/>
                  <a:pt x="68872" y="93844"/>
                </a:cubicBezTo>
                <a:cubicBezTo>
                  <a:pt x="68935" y="93844"/>
                  <a:pt x="68998" y="93860"/>
                  <a:pt x="69077" y="93860"/>
                </a:cubicBezTo>
                <a:cubicBezTo>
                  <a:pt x="69203" y="93891"/>
                  <a:pt x="69329" y="93891"/>
                  <a:pt x="69471" y="93907"/>
                </a:cubicBezTo>
                <a:cubicBezTo>
                  <a:pt x="69519" y="93907"/>
                  <a:pt x="69582" y="93907"/>
                  <a:pt x="69645" y="93923"/>
                </a:cubicBezTo>
                <a:cubicBezTo>
                  <a:pt x="69787" y="93923"/>
                  <a:pt x="69913" y="93939"/>
                  <a:pt x="70055" y="93939"/>
                </a:cubicBezTo>
                <a:lnTo>
                  <a:pt x="70229" y="93939"/>
                </a:lnTo>
                <a:cubicBezTo>
                  <a:pt x="70371" y="93939"/>
                  <a:pt x="70497" y="93939"/>
                  <a:pt x="70624" y="93970"/>
                </a:cubicBezTo>
                <a:lnTo>
                  <a:pt x="71729" y="93970"/>
                </a:lnTo>
                <a:cubicBezTo>
                  <a:pt x="71871" y="93970"/>
                  <a:pt x="72013" y="93970"/>
                  <a:pt x="72155" y="93939"/>
                </a:cubicBezTo>
                <a:lnTo>
                  <a:pt x="72281" y="93939"/>
                </a:lnTo>
                <a:cubicBezTo>
                  <a:pt x="72439" y="93939"/>
                  <a:pt x="72628" y="93923"/>
                  <a:pt x="72786" y="93907"/>
                </a:cubicBezTo>
                <a:lnTo>
                  <a:pt x="72834" y="93907"/>
                </a:lnTo>
                <a:cubicBezTo>
                  <a:pt x="84515" y="93023"/>
                  <a:pt x="93733" y="83252"/>
                  <a:pt x="93733" y="71334"/>
                </a:cubicBezTo>
                <a:lnTo>
                  <a:pt x="93733" y="71334"/>
                </a:lnTo>
                <a:cubicBezTo>
                  <a:pt x="93724" y="71353"/>
                  <a:pt x="93720" y="71360"/>
                  <a:pt x="93719" y="71360"/>
                </a:cubicBezTo>
                <a:cubicBezTo>
                  <a:pt x="93718" y="71360"/>
                  <a:pt x="93718" y="71357"/>
                  <a:pt x="93718" y="71350"/>
                </a:cubicBezTo>
                <a:cubicBezTo>
                  <a:pt x="93718" y="58848"/>
                  <a:pt x="83583" y="48698"/>
                  <a:pt x="71066" y="48698"/>
                </a:cubicBezTo>
                <a:cubicBezTo>
                  <a:pt x="69519" y="48698"/>
                  <a:pt x="68003" y="48856"/>
                  <a:pt x="66567" y="49156"/>
                </a:cubicBezTo>
                <a:cubicBezTo>
                  <a:pt x="65346" y="49398"/>
                  <a:pt x="64102" y="49540"/>
                  <a:pt x="62857" y="49540"/>
                </a:cubicBezTo>
                <a:cubicBezTo>
                  <a:pt x="62315" y="49540"/>
                  <a:pt x="61772" y="49513"/>
                  <a:pt x="61232" y="49456"/>
                </a:cubicBezTo>
                <a:cubicBezTo>
                  <a:pt x="57964" y="49093"/>
                  <a:pt x="54807" y="47909"/>
                  <a:pt x="52060" y="45841"/>
                </a:cubicBezTo>
                <a:cubicBezTo>
                  <a:pt x="46425" y="41579"/>
                  <a:pt x="43915" y="34586"/>
                  <a:pt x="44720" y="27483"/>
                </a:cubicBezTo>
                <a:cubicBezTo>
                  <a:pt x="44799" y="26741"/>
                  <a:pt x="44941" y="25983"/>
                  <a:pt x="45099" y="25225"/>
                </a:cubicBezTo>
                <a:cubicBezTo>
                  <a:pt x="45194" y="24373"/>
                  <a:pt x="45257" y="23489"/>
                  <a:pt x="45257" y="22621"/>
                </a:cubicBezTo>
                <a:cubicBezTo>
                  <a:pt x="45257" y="10119"/>
                  <a:pt x="35123" y="0"/>
                  <a:pt x="22621" y="0"/>
                </a:cubicBezTo>
                <a:close/>
              </a:path>
            </a:pathLst>
          </a:custGeom>
          <a:solidFill>
            <a:srgbClr val="ED3247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66"/>
          <p:cNvSpPr/>
          <p:nvPr/>
        </p:nvSpPr>
        <p:spPr>
          <a:xfrm>
            <a:off x="-502849" y="1169265"/>
            <a:ext cx="1216200" cy="1216200"/>
          </a:xfrm>
          <a:prstGeom prst="ellipse">
            <a:avLst/>
          </a:prstGeom>
          <a:solidFill>
            <a:srgbClr val="B8E5FA">
              <a:alpha val="7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5" name="Google Shape;775;p66"/>
          <p:cNvSpPr txBox="1"/>
          <p:nvPr/>
        </p:nvSpPr>
        <p:spPr>
          <a:xfrm>
            <a:off x="760650" y="1249150"/>
            <a:ext cx="76227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Explore the capability of morphological filers in data augmentation by using different operations and varying structuring elements.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Expand the dataset to encompass diverse populations and improve transfer learning models.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Incorporate additional evaluation metrics like Quadratic Weighted Kappa and introduce eXplainable AI (XAI) techniques for interpretation.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Josefin Sans"/>
              <a:buChar char="●"/>
            </a:pPr>
            <a:r>
              <a:rPr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Develop a user-friendly app integrating deep learning models for real-time analysis of retinal images, revolutionizing DR diagnosis and monitoring.</a:t>
            </a:r>
            <a:endParaRPr sz="15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1" name="Google Shape;781;p67"/>
          <p:cNvPicPr preferRelativeResize="0"/>
          <p:nvPr/>
        </p:nvPicPr>
        <p:blipFill rotWithShape="1">
          <a:blip r:embed="rId3">
            <a:alphaModFix/>
          </a:blip>
          <a:srcRect b="0" l="1497" r="0" t="0"/>
          <a:stretch/>
        </p:blipFill>
        <p:spPr>
          <a:xfrm flipH="1" rot="10800000">
            <a:off x="4633875" y="-87699"/>
            <a:ext cx="4871300" cy="5307699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67"/>
          <p:cNvSpPr txBox="1"/>
          <p:nvPr/>
        </p:nvSpPr>
        <p:spPr>
          <a:xfrm>
            <a:off x="256575" y="1615825"/>
            <a:ext cx="4377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The End!</a:t>
            </a:r>
            <a:endParaRPr b="1" sz="3000">
              <a:solidFill>
                <a:srgbClr val="A72A1E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A72A1E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A72A1E"/>
                </a:solidFill>
                <a:latin typeface="Josefin Sans"/>
                <a:ea typeface="Josefin Sans"/>
                <a:cs typeface="Josefin Sans"/>
                <a:sym typeface="Josefin Sans"/>
              </a:rPr>
              <a:t>Thank you for your attendance!</a:t>
            </a:r>
            <a:endParaRPr b="1" sz="3000">
              <a:solidFill>
                <a:srgbClr val="A72A1E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omedicine Research Center by Slidesgo">
  <a:themeElements>
    <a:clrScheme name="Simple Light">
      <a:dk1>
        <a:srgbClr val="212121"/>
      </a:dk1>
      <a:lt1>
        <a:srgbClr val="FFFFFF"/>
      </a:lt1>
      <a:dk2>
        <a:srgbClr val="BAC8C9"/>
      </a:dk2>
      <a:lt2>
        <a:srgbClr val="ED3247"/>
      </a:lt2>
      <a:accent1>
        <a:srgbClr val="FEFADD"/>
      </a:accent1>
      <a:accent2>
        <a:srgbClr val="BDE0D9"/>
      </a:accent2>
      <a:accent3>
        <a:srgbClr val="B8E5FA"/>
      </a:accent3>
      <a:accent4>
        <a:srgbClr val="FAE0CF"/>
      </a:accent4>
      <a:accent5>
        <a:srgbClr val="FAFAFA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